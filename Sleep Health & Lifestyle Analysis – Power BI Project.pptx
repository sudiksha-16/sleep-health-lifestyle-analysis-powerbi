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23"/>
  </p:notesMasterIdLst>
  <p:sldIdLst>
    <p:sldId id="256" r:id="rId3"/>
    <p:sldId id="571" r:id="rId4"/>
    <p:sldId id="572" r:id="rId5"/>
    <p:sldId id="573" r:id="rId6"/>
    <p:sldId id="580" r:id="rId7"/>
    <p:sldId id="581" r:id="rId8"/>
    <p:sldId id="582" r:id="rId9"/>
    <p:sldId id="574" r:id="rId10"/>
    <p:sldId id="583" r:id="rId11"/>
    <p:sldId id="584" r:id="rId12"/>
    <p:sldId id="585" r:id="rId13"/>
    <p:sldId id="576" r:id="rId14"/>
    <p:sldId id="586" r:id="rId15"/>
    <p:sldId id="587" r:id="rId16"/>
    <p:sldId id="589" r:id="rId17"/>
    <p:sldId id="588" r:id="rId18"/>
    <p:sldId id="577" r:id="rId19"/>
    <p:sldId id="579" r:id="rId20"/>
    <p:sldId id="578" r:id="rId21"/>
    <p:sldId id="536" r:id="rId22"/>
  </p:sldIdLst>
  <p:sldSz cx="12192000" cy="6858000"/>
  <p:notesSz cx="6858000" cy="9144000"/>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showGuides="1">
      <p:cViewPr varScale="1">
        <p:scale>
          <a:sx n="82" d="100"/>
          <a:sy n="82" d="100"/>
        </p:scale>
        <p:origin x="691" y="77"/>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20</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3/14/2026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6" Type="http://schemas.openxmlformats.org/officeDocument/2006/relationships/image" Target="../media/image3.jpg"/><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drive.google.com/drive/folders/11yGimf4odJVNcFWjd09eEYB4_QjrlXBI" TargetMode="External"/><Relationship Id="rId2" Type="http://schemas.openxmlformats.org/officeDocument/2006/relationships/hyperlink" Target="https://github.com/Sudiksha-16/sleep-health-lifestyle-analysis-powerbi.git"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drive.google.com/file/d/1LDDeQ8DV9i1YpletNciVYBo8GqGg-Ju2/view"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drive.google.com/file/d/1O2VoZMeyecnyOvQGkYEWBHbKccdLKHMx/view"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drive.google.com/file/d/1GUrcRjXXiAckxPDqSEZ7itGyjX4GANep/view"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rive.google.com/file/d/1DPSRy6FsAhN8qxgWW9LZrDkapmRn4sCs/view"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www.sleepfoundation.org/" TargetMode="External"/><Relationship Id="rId2" Type="http://schemas.openxmlformats.org/officeDocument/2006/relationships/hyperlink" Target="https://www.kaggle.com/datasets/uom190346a/sleep-health-and-lifestyle-dataset" TargetMode="External"/><Relationship Id="rId1" Type="http://schemas.openxmlformats.org/officeDocument/2006/relationships/slideLayout" Target="../slideLayouts/slideLayout3.xml"/><Relationship Id="rId6" Type="http://schemas.openxmlformats.org/officeDocument/2006/relationships/hyperlink" Target="https://drive.google.com/drive/folders/11yGimf4odJVNcFWjd09eEYB4_QjrlXBI" TargetMode="External"/><Relationship Id="rId5" Type="http://schemas.openxmlformats.org/officeDocument/2006/relationships/hyperlink" Target="https://github.com/Sudiksha-16/sleep-health-lifestyle-analysis-powerbi.git" TargetMode="External"/><Relationship Id="rId4" Type="http://schemas.openxmlformats.org/officeDocument/2006/relationships/hyperlink" Target="https://www.who.int/" TargetMode="Externa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17379" y="1343054"/>
            <a:ext cx="4746772" cy="2506766"/>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5400" b="1" dirty="0">
                <a:latin typeface="+mn-lt"/>
              </a:rPr>
              <a:t>Sleep Health and Lifestyle Analytics: A Data-Driven Study of Stress, Activity, and Sleep Disorders</a:t>
            </a:r>
            <a:endParaRPr lang="en-US" sz="5100" b="1" dirty="0">
              <a:latin typeface="+mn-lt"/>
            </a:endParaRPr>
          </a:p>
          <a:p>
            <a:pPr algn="l"/>
            <a:endParaRPr lang="en-US" sz="5100" b="1" kern="1200" dirty="0"/>
          </a:p>
        </p:txBody>
      </p:sp>
      <p:sp>
        <p:nvSpPr>
          <p:cNvPr id="5" name="Subtitle 2"/>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Sudiksha d</a:t>
            </a:r>
          </a:p>
          <a:p>
            <a:pPr algn="l">
              <a:spcAft>
                <a:spcPts val="600"/>
              </a:spcAft>
            </a:pPr>
            <a:r>
              <a:rPr lang="en-US" sz="1600" b="1" cap="all" dirty="0"/>
              <a:t>College Name: </a:t>
            </a:r>
            <a:r>
              <a:rPr lang="en-US" sz="1600" b="1" dirty="0"/>
              <a:t>Keshav Memorial Institute of Technology</a:t>
            </a:r>
            <a:endParaRPr lang="en-US" sz="1600" b="1" cap="all" dirty="0"/>
          </a:p>
          <a:p>
            <a:pPr algn="l">
              <a:spcAft>
                <a:spcPts val="600"/>
              </a:spcAft>
            </a:pPr>
            <a:r>
              <a:rPr lang="en-US" sz="1600" b="1" cap="all" dirty="0"/>
              <a:t>Department: </a:t>
            </a:r>
            <a:r>
              <a:rPr lang="en-IN" sz="1600" b="1" dirty="0"/>
              <a:t>Computer Science and Engineering</a:t>
            </a:r>
            <a:endParaRPr lang="en-US" sz="1600" b="1" cap="all" dirty="0"/>
          </a:p>
          <a:p>
            <a:pPr algn="l">
              <a:spcAft>
                <a:spcPts val="600"/>
              </a:spcAft>
            </a:pPr>
            <a:r>
              <a:rPr lang="en-US" sz="1600" b="1" cap="all" dirty="0"/>
              <a:t>Email ID: </a:t>
            </a:r>
            <a:r>
              <a:rPr lang="en-IN" sz="1600" b="1" dirty="0"/>
              <a:t>sudiksha1604@gmail.com</a:t>
            </a:r>
          </a:p>
          <a:p>
            <a:pPr algn="l">
              <a:spcAft>
                <a:spcPts val="600"/>
              </a:spcAft>
            </a:pPr>
            <a:endParaRPr lang="en-US" sz="1600" b="1" cap="all" dirty="0"/>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p:cNvPicPr>
            <a:picLocks noChangeAspect="1"/>
          </p:cNvPicPr>
          <p:nvPr/>
        </p:nvPicPr>
        <p:blipFill>
          <a:blip r:embed="rId5"/>
          <a:stretch>
            <a:fillRect/>
          </a:stretch>
        </p:blipFill>
        <p:spPr>
          <a:xfrm>
            <a:off x="6409990" y="963029"/>
            <a:ext cx="4590784" cy="4936489"/>
          </a:xfrm>
          <a:prstGeom prst="rect">
            <a:avLst/>
          </a:prstGeom>
        </p:spPr>
      </p:pic>
      <p:pic>
        <p:nvPicPr>
          <p:cNvPr id="6" name="Picture 5">
            <a:extLst>
              <a:ext uri="{FF2B5EF4-FFF2-40B4-BE49-F238E27FC236}">
                <a16:creationId xmlns:a16="http://schemas.microsoft.com/office/drawing/2014/main" id="{63CA9CC3-5191-E952-9564-7EB97B746E0A}"/>
              </a:ext>
            </a:extLst>
          </p:cNvPr>
          <p:cNvPicPr>
            <a:picLocks noChangeAspect="1"/>
          </p:cNvPicPr>
          <p:nvPr/>
        </p:nvPicPr>
        <p:blipFill>
          <a:blip r:embed="rId6">
            <a:extLst>
              <a:ext uri="{28A0092B-C50C-407E-A947-70E740481C1C}">
                <a14:useLocalDpi xmlns:a14="http://schemas.microsoft.com/office/drawing/2010/main" val="0"/>
              </a:ext>
            </a:extLst>
          </a:blip>
          <a:srcRect l="4575" t="8063"/>
          <a:stretch>
            <a:fillRect/>
          </a:stretch>
        </p:blipFill>
        <p:spPr>
          <a:xfrm>
            <a:off x="6335486" y="847150"/>
            <a:ext cx="4679359" cy="5345601"/>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panose="020B0604020202020204"/>
                <a:cs typeface="Arial" panose="020B0604020202020204"/>
              </a:rPr>
              <a:t>Problem Statement </a:t>
            </a:r>
          </a:p>
          <a:p>
            <a:pPr marL="305435" indent="-305435">
              <a:spcBef>
                <a:spcPct val="20000"/>
              </a:spcBef>
              <a:spcAft>
                <a:spcPts val="600"/>
              </a:spcAft>
            </a:pPr>
            <a:r>
              <a:rPr lang="en-US" sz="2200" b="1" dirty="0">
                <a:latin typeface="Arial" panose="020B0604020202020204"/>
                <a:cs typeface="Arial" panose="020B0604020202020204"/>
              </a:rPr>
              <a:t>Proposed System/Solution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System Development Approach </a:t>
            </a:r>
          </a:p>
          <a:p>
            <a:pPr marL="305435" indent="-305435">
              <a:spcBef>
                <a:spcPct val="20000"/>
              </a:spcBef>
              <a:spcAft>
                <a:spcPts val="600"/>
              </a:spcAft>
            </a:pPr>
            <a:r>
              <a:rPr lang="en-US" sz="2200" b="1" dirty="0">
                <a:latin typeface="Arial" panose="020B0604020202020204"/>
                <a:cs typeface="Arial" panose="020B0604020202020204"/>
              </a:rPr>
              <a:t>Result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Conclusion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Future Scope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References</a:t>
            </a:r>
            <a:endParaRPr lang="en-US" sz="2200" dirty="0">
              <a:latin typeface="Arial" panose="020B0604020202020204"/>
              <a:cs typeface="Arial" panose="020B0604020202020204"/>
            </a:endParaRPr>
          </a:p>
          <a:p>
            <a:endParaRPr lang="en-GB" sz="2200" dirty="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400" dirty="0"/>
              <a:t>Sleep is essential for maintaining physical and mental health, but modern lifestyle factors such as high stress, irregular work schedules, and low physical activity are negatively affecting sleep quality. Many people experience sleep disorders like insomnia and sleep apnea without understanding how factors such as occupation, stress levels, BMI, and daily habits influence their sleep patterns.</a:t>
            </a:r>
          </a:p>
          <a:p>
            <a:pPr marL="0" indent="0">
              <a:buNone/>
            </a:pPr>
            <a:r>
              <a:rPr lang="en-US" sz="2400" dirty="0"/>
              <a:t>Analyzing raw health data can be difficult without proper visualization tools. Therefore, this project develops an interactive Power BI dashboard to analyze sleep duration, sleep quality, stress levels, BMI, physical activity, and sleep disorders. The dashboard helps identify patterns and insights that explain how lifestyle factors impact sleep health.</a:t>
            </a:r>
          </a:p>
          <a:p>
            <a:pPr marL="0" indent="0">
              <a:buNone/>
            </a:pP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191083" y="1472256"/>
            <a:ext cx="10515600" cy="4251960"/>
          </a:xfrm>
        </p:spPr>
        <p:txBody>
          <a:bodyPr vert="horz" lIns="91440" tIns="45720" rIns="91440" bIns="45720" rtlCol="0" anchor="t">
            <a:noAutofit/>
          </a:bodyPr>
          <a:lstStyle/>
          <a:p>
            <a:pPr marL="0" indent="0">
              <a:buNone/>
            </a:pPr>
            <a:r>
              <a:rPr lang="en-US" sz="1800" dirty="0">
                <a:latin typeface="Times New Roman" panose="02020603050405020304" pitchFamily="18" charset="0"/>
                <a:cs typeface="Times New Roman" panose="02020603050405020304" pitchFamily="18" charset="0"/>
              </a:rPr>
              <a:t>The proposed solution uses data analytics and visualization techniques to analyze the relationship between lifestyle factors and sleep health.</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An interactive Power BI dashboard is developed to explore how variables such as sleep duration, stress level, BMI, occupation, physical activity, and daily steps influence sleep quality and sleep disorders.</a:t>
            </a:r>
          </a:p>
          <a:p>
            <a:pPr marL="0" indent="0" algn="just">
              <a:buNone/>
            </a:pPr>
            <a:r>
              <a:rPr lang="en-US" sz="1800" dirty="0">
                <a:latin typeface="Times New Roman" panose="02020603050405020304" pitchFamily="18" charset="0"/>
                <a:cs typeface="Times New Roman" panose="02020603050405020304" pitchFamily="18" charset="0"/>
              </a:rPr>
              <a:t>The system provides clear visual insights that help identify patterns, correlations, and potential risk factors affecting sleep health.</a:t>
            </a:r>
          </a:p>
          <a:p>
            <a:pPr marL="0" indent="0">
              <a:buNone/>
            </a:pPr>
            <a:r>
              <a:rPr lang="en-US" sz="1800" b="1" dirty="0">
                <a:latin typeface="Times New Roman" panose="02020603050405020304" pitchFamily="18" charset="0"/>
                <a:cs typeface="Times New Roman" panose="02020603050405020304" pitchFamily="18" charset="0"/>
              </a:rPr>
              <a:t>Key Components of the Solution</a:t>
            </a:r>
          </a:p>
          <a:p>
            <a:r>
              <a:rPr lang="en-US" sz="1800" dirty="0">
                <a:latin typeface="Times New Roman" panose="02020603050405020304" pitchFamily="18" charset="0"/>
                <a:cs typeface="Times New Roman" panose="02020603050405020304" pitchFamily="18" charset="0"/>
              </a:rPr>
              <a:t>Data Collection</a:t>
            </a:r>
          </a:p>
          <a:p>
            <a:r>
              <a:rPr lang="en-US" sz="1800" dirty="0">
                <a:latin typeface="Times New Roman" panose="02020603050405020304" pitchFamily="18" charset="0"/>
                <a:cs typeface="Times New Roman" panose="02020603050405020304" pitchFamily="18" charset="0"/>
              </a:rPr>
              <a:t>Data Cleaning and Preparation</a:t>
            </a:r>
          </a:p>
          <a:p>
            <a:r>
              <a:rPr lang="en-US" sz="1800" dirty="0">
                <a:latin typeface="Times New Roman" panose="02020603050405020304" pitchFamily="18" charset="0"/>
                <a:cs typeface="Times New Roman" panose="02020603050405020304" pitchFamily="18" charset="0"/>
              </a:rPr>
              <a:t>Data Analysis and Visualization</a:t>
            </a:r>
          </a:p>
          <a:p>
            <a:r>
              <a:rPr lang="en-US" sz="1800" dirty="0">
                <a:latin typeface="Times New Roman" panose="02020603050405020304" pitchFamily="18" charset="0"/>
                <a:cs typeface="Times New Roman" panose="02020603050405020304" pitchFamily="18" charset="0"/>
              </a:rPr>
              <a:t>Interactive Dashboard Development</a:t>
            </a:r>
          </a:p>
          <a:p>
            <a:r>
              <a:rPr lang="en-US" sz="1800" dirty="0">
                <a:latin typeface="Times New Roman" panose="02020603050405020304" pitchFamily="18" charset="0"/>
                <a:cs typeface="Times New Roman" panose="02020603050405020304" pitchFamily="18" charset="0"/>
              </a:rPr>
              <a:t>Insight Generation</a:t>
            </a:r>
          </a:p>
          <a:p>
            <a:pPr marL="305435" indent="-305435">
              <a:spcBef>
                <a:spcPct val="20000"/>
              </a:spcBef>
              <a:spcAft>
                <a:spcPts val="600"/>
              </a:spcAft>
              <a:buFont typeface="Arial" panose="020B0604020202020204"/>
              <a:buChar char="•"/>
            </a:pPr>
            <a:endParaRPr lang="en-GB"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F59217-4C73-E94C-3E98-15E413C774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A70485-0B66-B04C-6175-0C80263ADCBA}"/>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panose="020B0604020202020204"/>
                <a:cs typeface="Arial" panose="020B0604020202020204"/>
              </a:rPr>
              <a:t>Proposed Solution:</a:t>
            </a:r>
            <a:endParaRPr lang="en-US" sz="4000" dirty="0"/>
          </a:p>
        </p:txBody>
      </p:sp>
      <p:sp>
        <p:nvSpPr>
          <p:cNvPr id="3" name="Content Placeholder 2">
            <a:extLst>
              <a:ext uri="{FF2B5EF4-FFF2-40B4-BE49-F238E27FC236}">
                <a16:creationId xmlns:a16="http://schemas.microsoft.com/office/drawing/2014/main" id="{A6BC711D-69EF-65DC-3EA3-CE21D72CF699}"/>
              </a:ext>
            </a:extLst>
          </p:cNvPr>
          <p:cNvSpPr>
            <a:spLocks noGrp="1"/>
          </p:cNvSpPr>
          <p:nvPr>
            <p:ph idx="1"/>
          </p:nvPr>
        </p:nvSpPr>
        <p:spPr>
          <a:xfrm>
            <a:off x="88447" y="1127024"/>
            <a:ext cx="10515600" cy="5320430"/>
          </a:xfrm>
        </p:spPr>
        <p:txBody>
          <a:bodyPr vert="horz" lIns="91440" tIns="45720" rIns="91440" bIns="45720" rtlCol="0" anchor="t">
            <a:noAutofit/>
          </a:bodyPr>
          <a:lstStyle/>
          <a:p>
            <a:pPr marL="0" indent="0">
              <a:buNone/>
            </a:pPr>
            <a:r>
              <a:rPr lang="en-US" sz="1800" b="1" dirty="0">
                <a:latin typeface="Times New Roman" panose="02020603050405020304" pitchFamily="18" charset="0"/>
                <a:cs typeface="Times New Roman" panose="02020603050405020304" pitchFamily="18" charset="0"/>
              </a:rPr>
              <a:t>Data Collection</a:t>
            </a:r>
          </a:p>
          <a:p>
            <a:pPr marL="0" indent="0">
              <a:buNone/>
            </a:pPr>
            <a:r>
              <a:rPr lang="en-US" sz="1800" dirty="0">
                <a:latin typeface="Times New Roman" panose="02020603050405020304" pitchFamily="18" charset="0"/>
                <a:cs typeface="Times New Roman" panose="02020603050405020304" pitchFamily="18" charset="0"/>
              </a:rPr>
              <a:t>The Sleep Health and Lifestyle dataset is collected containing information such as:</a:t>
            </a:r>
          </a:p>
          <a:p>
            <a:pPr lvl="1"/>
            <a:r>
              <a:rPr lang="en-US" sz="1800" dirty="0">
                <a:latin typeface="Times New Roman" panose="02020603050405020304" pitchFamily="18" charset="0"/>
                <a:cs typeface="Times New Roman" panose="02020603050405020304" pitchFamily="18" charset="0"/>
              </a:rPr>
              <a:t>Age and Gender</a:t>
            </a:r>
          </a:p>
          <a:p>
            <a:pPr lvl="1"/>
            <a:r>
              <a:rPr lang="en-US" sz="1800" dirty="0">
                <a:latin typeface="Times New Roman" panose="02020603050405020304" pitchFamily="18" charset="0"/>
                <a:cs typeface="Times New Roman" panose="02020603050405020304" pitchFamily="18" charset="0"/>
              </a:rPr>
              <a:t>Occupation</a:t>
            </a:r>
          </a:p>
          <a:p>
            <a:pPr lvl="1"/>
            <a:r>
              <a:rPr lang="en-US" sz="1800" dirty="0">
                <a:latin typeface="Times New Roman" panose="02020603050405020304" pitchFamily="18" charset="0"/>
                <a:cs typeface="Times New Roman" panose="02020603050405020304" pitchFamily="18" charset="0"/>
              </a:rPr>
              <a:t>Sleep Duration</a:t>
            </a:r>
          </a:p>
          <a:p>
            <a:pPr lvl="1"/>
            <a:r>
              <a:rPr lang="en-US" sz="1800" dirty="0">
                <a:latin typeface="Times New Roman" panose="02020603050405020304" pitchFamily="18" charset="0"/>
                <a:cs typeface="Times New Roman" panose="02020603050405020304" pitchFamily="18" charset="0"/>
              </a:rPr>
              <a:t>Quality of Sleep</a:t>
            </a:r>
          </a:p>
          <a:p>
            <a:pPr lvl="1"/>
            <a:r>
              <a:rPr lang="en-US" sz="1800" dirty="0">
                <a:latin typeface="Times New Roman" panose="02020603050405020304" pitchFamily="18" charset="0"/>
                <a:cs typeface="Times New Roman" panose="02020603050405020304" pitchFamily="18" charset="0"/>
              </a:rPr>
              <a:t>Stress Level</a:t>
            </a:r>
          </a:p>
          <a:p>
            <a:pPr lvl="1"/>
            <a:r>
              <a:rPr lang="en-US" sz="1800" dirty="0">
                <a:latin typeface="Times New Roman" panose="02020603050405020304" pitchFamily="18" charset="0"/>
                <a:cs typeface="Times New Roman" panose="02020603050405020304" pitchFamily="18" charset="0"/>
              </a:rPr>
              <a:t>BMI Category</a:t>
            </a:r>
          </a:p>
          <a:p>
            <a:pPr lvl="1"/>
            <a:r>
              <a:rPr lang="en-US" sz="1800" dirty="0">
                <a:latin typeface="Times New Roman" panose="02020603050405020304" pitchFamily="18" charset="0"/>
                <a:cs typeface="Times New Roman" panose="02020603050405020304" pitchFamily="18" charset="0"/>
              </a:rPr>
              <a:t>Physical Activity Level</a:t>
            </a:r>
          </a:p>
          <a:p>
            <a:pPr lvl="1"/>
            <a:r>
              <a:rPr lang="en-US" sz="1800" dirty="0">
                <a:latin typeface="Times New Roman" panose="02020603050405020304" pitchFamily="18" charset="0"/>
                <a:cs typeface="Times New Roman" panose="02020603050405020304" pitchFamily="18" charset="0"/>
              </a:rPr>
              <a:t>Daily Steps</a:t>
            </a:r>
          </a:p>
          <a:p>
            <a:pPr lvl="1"/>
            <a:r>
              <a:rPr lang="en-US" sz="1800" dirty="0">
                <a:latin typeface="Times New Roman" panose="02020603050405020304" pitchFamily="18" charset="0"/>
                <a:cs typeface="Times New Roman" panose="02020603050405020304" pitchFamily="18" charset="0"/>
              </a:rPr>
              <a:t>Sleep Disorders</a:t>
            </a:r>
          </a:p>
          <a:p>
            <a:pPr marL="0" indent="0">
              <a:buNone/>
            </a:pPr>
            <a:r>
              <a:rPr lang="en-US" sz="1800" b="1" dirty="0">
                <a:latin typeface="Times New Roman" panose="02020603050405020304" pitchFamily="18" charset="0"/>
                <a:cs typeface="Times New Roman" panose="02020603050405020304" pitchFamily="18" charset="0"/>
              </a:rPr>
              <a:t>Data Preparation</a:t>
            </a:r>
          </a:p>
          <a:p>
            <a:pPr marL="0" indent="0">
              <a:buNone/>
            </a:pPr>
            <a:r>
              <a:rPr lang="en-US" sz="1800" dirty="0">
                <a:latin typeface="Times New Roman" panose="02020603050405020304" pitchFamily="18" charset="0"/>
                <a:cs typeface="Times New Roman" panose="02020603050405020304" pitchFamily="18" charset="0"/>
              </a:rPr>
              <a:t>The dataset is imported into Power BI.</a:t>
            </a:r>
          </a:p>
          <a:p>
            <a:pPr marL="0" indent="0">
              <a:buNone/>
            </a:pPr>
            <a:r>
              <a:rPr lang="en-US" sz="1800" dirty="0">
                <a:latin typeface="Times New Roman" panose="02020603050405020304" pitchFamily="18" charset="0"/>
                <a:cs typeface="Times New Roman" panose="02020603050405020304" pitchFamily="18" charset="0"/>
              </a:rPr>
              <a:t>Data cleaning is performed to:</a:t>
            </a:r>
          </a:p>
          <a:p>
            <a:pPr lvl="1"/>
            <a:r>
              <a:rPr lang="en-US" sz="1800" dirty="0">
                <a:latin typeface="Times New Roman" panose="02020603050405020304" pitchFamily="18" charset="0"/>
                <a:cs typeface="Times New Roman" panose="02020603050405020304" pitchFamily="18" charset="0"/>
              </a:rPr>
              <a:t>Remove missing or inconsistent values</a:t>
            </a:r>
          </a:p>
          <a:p>
            <a:pPr lvl="1"/>
            <a:r>
              <a:rPr lang="en-US" sz="1800" dirty="0">
                <a:latin typeface="Times New Roman" panose="02020603050405020304" pitchFamily="18" charset="0"/>
                <a:cs typeface="Times New Roman" panose="02020603050405020304" pitchFamily="18" charset="0"/>
              </a:rPr>
              <a:t>Standardize categorical data</a:t>
            </a:r>
          </a:p>
          <a:p>
            <a:r>
              <a:rPr lang="en-US" sz="1800" dirty="0">
                <a:latin typeface="Times New Roman" panose="02020603050405020304" pitchFamily="18" charset="0"/>
                <a:cs typeface="Times New Roman" panose="02020603050405020304" pitchFamily="18" charset="0"/>
              </a:rPr>
              <a:t>Data transformation and formatting are applied to prepare the dataset for analysis.</a:t>
            </a:r>
          </a:p>
          <a:p>
            <a:endParaRPr lang="en-US" sz="1800" dirty="0">
              <a:latin typeface="Times New Roman" panose="02020603050405020304" pitchFamily="18" charset="0"/>
              <a:cs typeface="Times New Roman" panose="02020603050405020304" pitchFamily="18" charset="0"/>
            </a:endParaRPr>
          </a:p>
          <a:p>
            <a:pPr marL="305435" indent="-305435">
              <a:spcBef>
                <a:spcPct val="20000"/>
              </a:spcBef>
              <a:spcAft>
                <a:spcPts val="600"/>
              </a:spcAft>
              <a:buFont typeface="Arial" panose="020B0604020202020204"/>
              <a:buChar char="•"/>
            </a:pPr>
            <a:endParaRPr lang="en-GB"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0539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D3B4FC-76A9-B41A-7656-9F4131733D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33F8D5-CFD1-58DC-0D34-387B83B3FF02}"/>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panose="020B0604020202020204"/>
                <a:cs typeface="Arial" panose="020B0604020202020204"/>
              </a:rPr>
              <a:t>Proposed Solution:</a:t>
            </a:r>
            <a:endParaRPr lang="en-US" sz="4000" dirty="0"/>
          </a:p>
        </p:txBody>
      </p:sp>
      <p:sp>
        <p:nvSpPr>
          <p:cNvPr id="3" name="Content Placeholder 2">
            <a:extLst>
              <a:ext uri="{FF2B5EF4-FFF2-40B4-BE49-F238E27FC236}">
                <a16:creationId xmlns:a16="http://schemas.microsoft.com/office/drawing/2014/main" id="{D221291E-7EE8-68B0-355A-5CBC291C0C5E}"/>
              </a:ext>
            </a:extLst>
          </p:cNvPr>
          <p:cNvSpPr>
            <a:spLocks noGrp="1"/>
          </p:cNvSpPr>
          <p:nvPr>
            <p:ph idx="1"/>
          </p:nvPr>
        </p:nvSpPr>
        <p:spPr>
          <a:xfrm>
            <a:off x="88447" y="1266031"/>
            <a:ext cx="11873398" cy="6300143"/>
          </a:xfrm>
        </p:spPr>
        <p:txBody>
          <a:bodyPr vert="horz" lIns="91440" tIns="45720" rIns="91440" bIns="45720" rtlCol="0" anchor="t">
            <a:noAutofit/>
          </a:bodyPr>
          <a:lstStyle/>
          <a:p>
            <a:pPr marL="0" indent="0">
              <a:buNone/>
            </a:pPr>
            <a:r>
              <a:rPr lang="en-IN" sz="1800" b="1" dirty="0">
                <a:latin typeface="Times New Roman" panose="02020603050405020304" pitchFamily="18" charset="0"/>
                <a:cs typeface="Times New Roman" panose="02020603050405020304" pitchFamily="18" charset="0"/>
              </a:rPr>
              <a:t>Data Analysis</a:t>
            </a:r>
          </a:p>
          <a:p>
            <a:pPr marL="0" indent="0">
              <a:buNone/>
            </a:pPr>
            <a:r>
              <a:rPr lang="en-IN" sz="1800" dirty="0">
                <a:latin typeface="Times New Roman" panose="02020603050405020304" pitchFamily="18" charset="0"/>
                <a:cs typeface="Times New Roman" panose="02020603050405020304" pitchFamily="18" charset="0"/>
              </a:rPr>
              <a:t>Different lifestyle factors are analyzed to understand their impact on sleep health.</a:t>
            </a:r>
          </a:p>
          <a:p>
            <a:pPr marL="0" indent="0">
              <a:buNone/>
            </a:pPr>
            <a:r>
              <a:rPr lang="en-IN" sz="1800" dirty="0">
                <a:latin typeface="Times New Roman" panose="02020603050405020304" pitchFamily="18" charset="0"/>
                <a:cs typeface="Times New Roman" panose="02020603050405020304" pitchFamily="18" charset="0"/>
              </a:rPr>
              <a:t>Key relationships analyzed include:</a:t>
            </a:r>
          </a:p>
          <a:p>
            <a:r>
              <a:rPr lang="en-IN" sz="1800" dirty="0">
                <a:latin typeface="Times New Roman" panose="02020603050405020304" pitchFamily="18" charset="0"/>
                <a:cs typeface="Times New Roman" panose="02020603050405020304" pitchFamily="18" charset="0"/>
              </a:rPr>
              <a:t>Sleep Duration vs Occupation</a:t>
            </a:r>
          </a:p>
          <a:p>
            <a:r>
              <a:rPr lang="en-IN" sz="1800" dirty="0">
                <a:latin typeface="Times New Roman" panose="02020603050405020304" pitchFamily="18" charset="0"/>
                <a:cs typeface="Times New Roman" panose="02020603050405020304" pitchFamily="18" charset="0"/>
              </a:rPr>
              <a:t>Stress Level vs Sleep Disorder</a:t>
            </a:r>
          </a:p>
          <a:p>
            <a:r>
              <a:rPr lang="en-IN" sz="1800" dirty="0">
                <a:latin typeface="Times New Roman" panose="02020603050405020304" pitchFamily="18" charset="0"/>
                <a:cs typeface="Times New Roman" panose="02020603050405020304" pitchFamily="18" charset="0"/>
              </a:rPr>
              <a:t>BMI Category vs Sleep Disorder</a:t>
            </a:r>
          </a:p>
          <a:p>
            <a:r>
              <a:rPr lang="en-IN" sz="1800" dirty="0">
                <a:latin typeface="Times New Roman" panose="02020603050405020304" pitchFamily="18" charset="0"/>
                <a:cs typeface="Times New Roman" panose="02020603050405020304" pitchFamily="18" charset="0"/>
              </a:rPr>
              <a:t>Physical Activity vs Sleep Quality</a:t>
            </a:r>
          </a:p>
          <a:p>
            <a:r>
              <a:rPr lang="en-IN" sz="1800" dirty="0">
                <a:latin typeface="Times New Roman" panose="02020603050405020304" pitchFamily="18" charset="0"/>
                <a:cs typeface="Times New Roman" panose="02020603050405020304" pitchFamily="18" charset="0"/>
              </a:rPr>
              <a:t>Gender vs Sleep Health</a:t>
            </a:r>
          </a:p>
          <a:p>
            <a:pPr marL="0" indent="0">
              <a:buNone/>
            </a:pPr>
            <a:r>
              <a:rPr lang="en-IN" sz="1800" b="1" dirty="0">
                <a:latin typeface="Times New Roman" panose="02020603050405020304" pitchFamily="18" charset="0"/>
                <a:cs typeface="Times New Roman" panose="02020603050405020304" pitchFamily="18" charset="0"/>
              </a:rPr>
              <a:t>Visualization Development</a:t>
            </a:r>
          </a:p>
          <a:p>
            <a:pPr marL="0" indent="0">
              <a:buNone/>
            </a:pPr>
            <a:r>
              <a:rPr lang="en-IN" sz="1800" dirty="0">
                <a:latin typeface="Times New Roman" panose="02020603050405020304" pitchFamily="18" charset="0"/>
                <a:cs typeface="Times New Roman" panose="02020603050405020304" pitchFamily="18" charset="0"/>
              </a:rPr>
              <a:t>Various Power BI visuals are created to represent insights:</a:t>
            </a:r>
          </a:p>
          <a:p>
            <a:pPr marL="0" indent="0">
              <a:buNone/>
            </a:pP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These visualizations help users easily explore and interpret sleep health patterns.</a:t>
            </a:r>
          </a:p>
          <a:p>
            <a:pPr marL="305435" indent="-305435">
              <a:spcBef>
                <a:spcPct val="20000"/>
              </a:spcBef>
              <a:spcAft>
                <a:spcPts val="600"/>
              </a:spcAft>
              <a:buFont typeface="Arial" panose="020B0604020202020204"/>
              <a:buChar char="•"/>
            </a:pPr>
            <a:endParaRPr lang="en-GB" sz="18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7621EBA4-6271-A9A3-B81D-39E34E829C88}"/>
              </a:ext>
            </a:extLst>
          </p:cNvPr>
          <p:cNvGraphicFramePr>
            <a:graphicFrameLocks noGrp="1"/>
          </p:cNvGraphicFramePr>
          <p:nvPr>
            <p:extLst>
              <p:ext uri="{D42A27DB-BD31-4B8C-83A1-F6EECF244321}">
                <p14:modId xmlns:p14="http://schemas.microsoft.com/office/powerpoint/2010/main" val="2726286809"/>
              </p:ext>
            </p:extLst>
          </p:nvPr>
        </p:nvGraphicFramePr>
        <p:xfrm>
          <a:off x="88447" y="4624193"/>
          <a:ext cx="10515600" cy="1463040"/>
        </p:xfrm>
        <a:graphic>
          <a:graphicData uri="http://schemas.openxmlformats.org/drawingml/2006/table">
            <a:tbl>
              <a:tblPr/>
              <a:tblGrid>
                <a:gridCol w="5257800">
                  <a:extLst>
                    <a:ext uri="{9D8B030D-6E8A-4147-A177-3AD203B41FA5}">
                      <a16:colId xmlns:a16="http://schemas.microsoft.com/office/drawing/2014/main" val="2696501094"/>
                    </a:ext>
                  </a:extLst>
                </a:gridCol>
                <a:gridCol w="5257800">
                  <a:extLst>
                    <a:ext uri="{9D8B030D-6E8A-4147-A177-3AD203B41FA5}">
                      <a16:colId xmlns:a16="http://schemas.microsoft.com/office/drawing/2014/main" val="439698760"/>
                    </a:ext>
                  </a:extLst>
                </a:gridCol>
              </a:tblGrid>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419798222"/>
                  </a:ext>
                </a:extLst>
              </a:tr>
              <a:tr h="0">
                <a:tc>
                  <a:txBody>
                    <a:bodyPr/>
                    <a:lstStyle/>
                    <a:p>
                      <a:pPr>
                        <a:buNone/>
                      </a:pPr>
                      <a:r>
                        <a:rPr lang="en-IN" dirty="0"/>
                        <a:t>• Bar Charts</a:t>
                      </a:r>
                    </a:p>
                  </a:txBody>
                  <a:tcPr anchor="ctr">
                    <a:lnL>
                      <a:noFill/>
                    </a:lnL>
                    <a:lnR>
                      <a:noFill/>
                    </a:lnR>
                    <a:lnT>
                      <a:noFill/>
                    </a:lnT>
                    <a:lnB>
                      <a:noFill/>
                    </a:lnB>
                    <a:noFill/>
                  </a:tcPr>
                </a:tc>
                <a:tc>
                  <a:txBody>
                    <a:bodyPr/>
                    <a:lstStyle/>
                    <a:p>
                      <a:pPr>
                        <a:buNone/>
                      </a:pPr>
                      <a:r>
                        <a:rPr lang="en-IN"/>
                        <a:t>• Line Charts</a:t>
                      </a:r>
                    </a:p>
                  </a:txBody>
                  <a:tcPr anchor="ctr">
                    <a:lnL>
                      <a:noFill/>
                    </a:lnL>
                    <a:lnR>
                      <a:noFill/>
                    </a:lnR>
                    <a:lnT>
                      <a:noFill/>
                    </a:lnT>
                    <a:lnB>
                      <a:noFill/>
                    </a:lnB>
                    <a:noFill/>
                  </a:tcPr>
                </a:tc>
                <a:extLst>
                  <a:ext uri="{0D108BD9-81ED-4DB2-BD59-A6C34878D82A}">
                    <a16:rowId xmlns:a16="http://schemas.microsoft.com/office/drawing/2014/main" val="2374350979"/>
                  </a:ext>
                </a:extLst>
              </a:tr>
              <a:tr h="0">
                <a:tc>
                  <a:txBody>
                    <a:bodyPr/>
                    <a:lstStyle/>
                    <a:p>
                      <a:pPr>
                        <a:buNone/>
                      </a:pPr>
                      <a:r>
                        <a:rPr lang="en-IN" dirty="0"/>
                        <a:t>• Pie Charts</a:t>
                      </a:r>
                    </a:p>
                  </a:txBody>
                  <a:tcPr anchor="ctr">
                    <a:lnL>
                      <a:noFill/>
                    </a:lnL>
                    <a:lnR>
                      <a:noFill/>
                    </a:lnR>
                    <a:lnT>
                      <a:noFill/>
                    </a:lnT>
                    <a:lnB>
                      <a:noFill/>
                    </a:lnB>
                    <a:noFill/>
                  </a:tcPr>
                </a:tc>
                <a:tc>
                  <a:txBody>
                    <a:bodyPr/>
                    <a:lstStyle/>
                    <a:p>
                      <a:pPr>
                        <a:buNone/>
                      </a:pPr>
                      <a:r>
                        <a:rPr lang="en-IN"/>
                        <a:t>• Stacked Column Charts</a:t>
                      </a:r>
                    </a:p>
                  </a:txBody>
                  <a:tcPr anchor="ctr">
                    <a:lnL>
                      <a:noFill/>
                    </a:lnL>
                    <a:lnR>
                      <a:noFill/>
                    </a:lnR>
                    <a:lnT>
                      <a:noFill/>
                    </a:lnT>
                    <a:lnB>
                      <a:noFill/>
                    </a:lnB>
                    <a:noFill/>
                  </a:tcPr>
                </a:tc>
                <a:extLst>
                  <a:ext uri="{0D108BD9-81ED-4DB2-BD59-A6C34878D82A}">
                    <a16:rowId xmlns:a16="http://schemas.microsoft.com/office/drawing/2014/main" val="343057964"/>
                  </a:ext>
                </a:extLst>
              </a:tr>
              <a:tr h="0">
                <a:tc>
                  <a:txBody>
                    <a:bodyPr/>
                    <a:lstStyle/>
                    <a:p>
                      <a:pPr>
                        <a:buNone/>
                      </a:pPr>
                      <a:r>
                        <a:rPr lang="en-IN" dirty="0"/>
                        <a:t>• KPI Cards</a:t>
                      </a:r>
                    </a:p>
                  </a:txBody>
                  <a:tcPr anchor="ctr">
                    <a:lnL>
                      <a:noFill/>
                    </a:lnL>
                    <a:lnR>
                      <a:noFill/>
                    </a:lnR>
                    <a:lnT>
                      <a:noFill/>
                    </a:lnT>
                    <a:lnB>
                      <a:noFill/>
                    </a:lnB>
                    <a:noFill/>
                  </a:tcPr>
                </a:tc>
                <a:tc>
                  <a:txBody>
                    <a:bodyPr/>
                    <a:lstStyle/>
                    <a:p>
                      <a:pPr>
                        <a:buNone/>
                      </a:pPr>
                      <a:r>
                        <a:rPr lang="en-IN" dirty="0"/>
                        <a:t>• Filters &amp; Slicers</a:t>
                      </a:r>
                    </a:p>
                  </a:txBody>
                  <a:tcPr anchor="ctr">
                    <a:lnL>
                      <a:noFill/>
                    </a:lnL>
                    <a:lnR>
                      <a:noFill/>
                    </a:lnR>
                    <a:lnT>
                      <a:noFill/>
                    </a:lnT>
                    <a:lnB>
                      <a:noFill/>
                    </a:lnB>
                    <a:noFill/>
                  </a:tcPr>
                </a:tc>
                <a:extLst>
                  <a:ext uri="{0D108BD9-81ED-4DB2-BD59-A6C34878D82A}">
                    <a16:rowId xmlns:a16="http://schemas.microsoft.com/office/drawing/2014/main" val="3265171181"/>
                  </a:ext>
                </a:extLst>
              </a:tr>
            </a:tbl>
          </a:graphicData>
        </a:graphic>
      </p:graphicFrame>
    </p:spTree>
    <p:extLst>
      <p:ext uri="{BB962C8B-B14F-4D97-AF65-F5344CB8AC3E}">
        <p14:creationId xmlns:p14="http://schemas.microsoft.com/office/powerpoint/2010/main" val="3785386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A6F4EB-50ED-1C2E-765B-035CF9D44C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F592DD-12C9-9210-0A54-433811EF09F8}"/>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panose="020B0604020202020204"/>
                <a:cs typeface="Arial" panose="020B0604020202020204"/>
              </a:rPr>
              <a:t>Proposed Solution:</a:t>
            </a:r>
            <a:endParaRPr lang="en-US" sz="4000" dirty="0"/>
          </a:p>
        </p:txBody>
      </p:sp>
      <p:sp>
        <p:nvSpPr>
          <p:cNvPr id="3" name="Content Placeholder 2">
            <a:extLst>
              <a:ext uri="{FF2B5EF4-FFF2-40B4-BE49-F238E27FC236}">
                <a16:creationId xmlns:a16="http://schemas.microsoft.com/office/drawing/2014/main" id="{200EDCB1-3E09-2A69-2309-DBFBF8B1ABEE}"/>
              </a:ext>
            </a:extLst>
          </p:cNvPr>
          <p:cNvSpPr>
            <a:spLocks noGrp="1"/>
          </p:cNvSpPr>
          <p:nvPr>
            <p:ph idx="1"/>
          </p:nvPr>
        </p:nvSpPr>
        <p:spPr>
          <a:xfrm>
            <a:off x="88446" y="1266031"/>
            <a:ext cx="10515600" cy="5320430"/>
          </a:xfrm>
        </p:spPr>
        <p:txBody>
          <a:bodyPr vert="horz" lIns="91440" tIns="45720" rIns="91440" bIns="45720" rtlCol="0" anchor="t">
            <a:noAutofit/>
          </a:bodyPr>
          <a:lstStyle/>
          <a:p>
            <a:pPr marL="0" indent="0">
              <a:buNone/>
            </a:pPr>
            <a:r>
              <a:rPr lang="en-IN" sz="1800" b="1" dirty="0">
                <a:latin typeface="Times New Roman" panose="02020603050405020304" pitchFamily="18" charset="0"/>
                <a:cs typeface="Times New Roman" panose="02020603050405020304" pitchFamily="18" charset="0"/>
              </a:rPr>
              <a:t>Dashboard Development</a:t>
            </a:r>
          </a:p>
          <a:p>
            <a:pPr marL="0" indent="0">
              <a:buNone/>
            </a:pPr>
            <a:r>
              <a:rPr lang="en-IN" sz="1800" dirty="0">
                <a:latin typeface="Times New Roman" panose="02020603050405020304" pitchFamily="18" charset="0"/>
                <a:cs typeface="Times New Roman" panose="02020603050405020304" pitchFamily="18" charset="0"/>
              </a:rPr>
              <a:t>An interactive Power BI dashboard is created that includes:</a:t>
            </a:r>
          </a:p>
          <a:p>
            <a:r>
              <a:rPr lang="en-IN" sz="1800" dirty="0">
                <a:latin typeface="Times New Roman" panose="02020603050405020304" pitchFamily="18" charset="0"/>
                <a:cs typeface="Times New Roman" panose="02020603050405020304" pitchFamily="18" charset="0"/>
              </a:rPr>
              <a:t>Sleep health overview metrics</a:t>
            </a:r>
          </a:p>
          <a:p>
            <a:r>
              <a:rPr lang="en-IN" sz="1800" dirty="0">
                <a:latin typeface="Times New Roman" panose="02020603050405020304" pitchFamily="18" charset="0"/>
                <a:cs typeface="Times New Roman" panose="02020603050405020304" pitchFamily="18" charset="0"/>
              </a:rPr>
              <a:t>Gender-based sleep analysis</a:t>
            </a:r>
          </a:p>
          <a:p>
            <a:r>
              <a:rPr lang="en-IN" sz="1800" dirty="0">
                <a:latin typeface="Times New Roman" panose="02020603050405020304" pitchFamily="18" charset="0"/>
                <a:cs typeface="Times New Roman" panose="02020603050405020304" pitchFamily="18" charset="0"/>
              </a:rPr>
              <a:t>Occupation-based sleep patterns</a:t>
            </a:r>
          </a:p>
          <a:p>
            <a:r>
              <a:rPr lang="en-IN" sz="1800" dirty="0">
                <a:latin typeface="Times New Roman" panose="02020603050405020304" pitchFamily="18" charset="0"/>
                <a:cs typeface="Times New Roman" panose="02020603050405020304" pitchFamily="18" charset="0"/>
              </a:rPr>
              <a:t>Sleep disorder analysis</a:t>
            </a:r>
          </a:p>
          <a:p>
            <a:r>
              <a:rPr lang="en-IN" sz="1800" dirty="0">
                <a:latin typeface="Times New Roman" panose="02020603050405020304" pitchFamily="18" charset="0"/>
                <a:cs typeface="Times New Roman" panose="02020603050405020304" pitchFamily="18" charset="0"/>
              </a:rPr>
              <a:t>BMI and lifestyle factor analysis</a:t>
            </a:r>
          </a:p>
          <a:p>
            <a:r>
              <a:rPr lang="en-IN" sz="1800" dirty="0">
                <a:latin typeface="Times New Roman" panose="02020603050405020304" pitchFamily="18" charset="0"/>
                <a:cs typeface="Times New Roman" panose="02020603050405020304" pitchFamily="18" charset="0"/>
              </a:rPr>
              <a:t>Interactive filters and slicers allow users to </a:t>
            </a:r>
            <a:r>
              <a:rPr lang="en-IN" sz="1800" dirty="0" err="1">
                <a:latin typeface="Times New Roman" panose="02020603050405020304" pitchFamily="18" charset="0"/>
                <a:cs typeface="Times New Roman" panose="02020603050405020304" pitchFamily="18" charset="0"/>
              </a:rPr>
              <a:t>analyze</a:t>
            </a:r>
            <a:r>
              <a:rPr lang="en-IN" sz="1800" dirty="0">
                <a:latin typeface="Times New Roman" panose="02020603050405020304" pitchFamily="18" charset="0"/>
                <a:cs typeface="Times New Roman" panose="02020603050405020304" pitchFamily="18" charset="0"/>
              </a:rPr>
              <a:t> data dynamically by gender, occupation, and sleep disorder type.</a:t>
            </a:r>
          </a:p>
          <a:p>
            <a:pPr marL="0" indent="0">
              <a:buNone/>
            </a:pPr>
            <a:r>
              <a:rPr lang="en-IN" sz="1800" b="1" dirty="0">
                <a:latin typeface="Times New Roman" panose="02020603050405020304" pitchFamily="18" charset="0"/>
                <a:cs typeface="Times New Roman" panose="02020603050405020304" pitchFamily="18" charset="0"/>
              </a:rPr>
              <a:t>Insights and Decision Support</a:t>
            </a:r>
          </a:p>
          <a:p>
            <a:pPr marL="0" indent="0">
              <a:buNone/>
            </a:pPr>
            <a:r>
              <a:rPr lang="en-IN" sz="1800" dirty="0">
                <a:latin typeface="Times New Roman" panose="02020603050405020304" pitchFamily="18" charset="0"/>
                <a:cs typeface="Times New Roman" panose="02020603050405020304" pitchFamily="18" charset="0"/>
              </a:rPr>
              <a:t>The dashboard helps:</a:t>
            </a:r>
          </a:p>
          <a:p>
            <a:r>
              <a:rPr lang="en-IN" sz="1800" dirty="0">
                <a:latin typeface="Times New Roman" panose="02020603050405020304" pitchFamily="18" charset="0"/>
                <a:cs typeface="Times New Roman" panose="02020603050405020304" pitchFamily="18" charset="0"/>
              </a:rPr>
              <a:t>Identify occupations with higher stress levels</a:t>
            </a:r>
          </a:p>
          <a:p>
            <a:r>
              <a:rPr lang="en-IN" sz="1800" dirty="0">
                <a:latin typeface="Times New Roman" panose="02020603050405020304" pitchFamily="18" charset="0"/>
                <a:cs typeface="Times New Roman" panose="02020603050405020304" pitchFamily="18" charset="0"/>
              </a:rPr>
              <a:t>Understand how BMI and physical activity influence sleep quality</a:t>
            </a:r>
          </a:p>
          <a:p>
            <a:r>
              <a:rPr lang="en-IN" sz="1800" dirty="0">
                <a:latin typeface="Times New Roman" panose="02020603050405020304" pitchFamily="18" charset="0"/>
                <a:cs typeface="Times New Roman" panose="02020603050405020304" pitchFamily="18" charset="0"/>
              </a:rPr>
              <a:t>Detect patterns related to insomnia and sleep </a:t>
            </a:r>
            <a:r>
              <a:rPr lang="en-IN" sz="1800" dirty="0" err="1">
                <a:latin typeface="Times New Roman" panose="02020603050405020304" pitchFamily="18" charset="0"/>
                <a:cs typeface="Times New Roman" panose="02020603050405020304" pitchFamily="18" charset="0"/>
              </a:rPr>
              <a:t>apnea</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Provide data-driven insights for improving sleep health awareness.</a:t>
            </a:r>
          </a:p>
          <a:p>
            <a:pPr marL="305435" indent="-305435">
              <a:spcBef>
                <a:spcPct val="20000"/>
              </a:spcBef>
              <a:spcAft>
                <a:spcPts val="600"/>
              </a:spcAft>
              <a:buFont typeface="Arial" panose="020B0604020202020204"/>
              <a:buChar char="•"/>
            </a:pPr>
            <a:endParaRPr lang="en-GB"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7900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130797" y="1474276"/>
            <a:ext cx="10515600" cy="4251960"/>
          </a:xfrm>
        </p:spPr>
        <p:txBody>
          <a:bodyPr vert="horz" lIns="91440" tIns="45720" rIns="91440" bIns="45720" rtlCol="0">
            <a:noAutofit/>
          </a:bodyPr>
          <a:lstStyle/>
          <a:p>
            <a:pPr marL="0" indent="0">
              <a:buNone/>
            </a:pPr>
            <a:r>
              <a:rPr lang="en-US" sz="1800" dirty="0">
                <a:latin typeface="Times New Roman" panose="02020603050405020304" pitchFamily="18" charset="0"/>
                <a:cs typeface="Times New Roman" panose="02020603050405020304" pitchFamily="18" charset="0"/>
              </a:rPr>
              <a:t>The system approach describes the methodology used to analyze sleep health data using Power BI. The approach focuses on collecting the dataset, preparing the data, and creating interactive visualizations to explore relationships between lifestyle factors and sleep patterns.</a:t>
            </a:r>
          </a:p>
          <a:p>
            <a:pPr marL="0" indent="0">
              <a:buNone/>
            </a:pPr>
            <a:r>
              <a:rPr lang="en-US" sz="1800" b="1" dirty="0">
                <a:latin typeface="Times New Roman" panose="02020603050405020304" pitchFamily="18" charset="0"/>
                <a:cs typeface="Times New Roman" panose="02020603050405020304" pitchFamily="18" charset="0"/>
              </a:rPr>
              <a:t>System Requirements</a:t>
            </a:r>
          </a:p>
          <a:p>
            <a:pPr marL="0" indent="0">
              <a:buNone/>
            </a:pPr>
            <a:r>
              <a:rPr lang="en-US" sz="1800" b="1" dirty="0">
                <a:latin typeface="Times New Roman" panose="02020603050405020304" pitchFamily="18" charset="0"/>
                <a:cs typeface="Times New Roman" panose="02020603050405020304" pitchFamily="18" charset="0"/>
              </a:rPr>
              <a:t>Hardware Requirements</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Processor: Intel i3 / i5 or higher</a:t>
            </a:r>
          </a:p>
          <a:p>
            <a:r>
              <a:rPr lang="en-US" sz="1800" dirty="0">
                <a:latin typeface="Times New Roman" panose="02020603050405020304" pitchFamily="18" charset="0"/>
                <a:cs typeface="Times New Roman" panose="02020603050405020304" pitchFamily="18" charset="0"/>
              </a:rPr>
              <a:t>RAM: Minimum 4 GB (8 GB recommended)</a:t>
            </a:r>
          </a:p>
          <a:p>
            <a:r>
              <a:rPr lang="en-US" sz="1800" dirty="0">
                <a:latin typeface="Times New Roman" panose="02020603050405020304" pitchFamily="18" charset="0"/>
                <a:cs typeface="Times New Roman" panose="02020603050405020304" pitchFamily="18" charset="0"/>
              </a:rPr>
              <a:t>Storage: 500 MB or more free space</a:t>
            </a:r>
          </a:p>
          <a:p>
            <a:pPr marL="0" indent="0">
              <a:buNone/>
            </a:pPr>
            <a:r>
              <a:rPr lang="en-US" sz="1800" b="1" dirty="0">
                <a:latin typeface="Times New Roman" panose="02020603050405020304" pitchFamily="18" charset="0"/>
                <a:cs typeface="Times New Roman" panose="02020603050405020304" pitchFamily="18" charset="0"/>
              </a:rPr>
              <a:t>Software Requirements</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Microsoft Power BI Desktop</a:t>
            </a:r>
          </a:p>
          <a:p>
            <a:r>
              <a:rPr lang="en-US" sz="1800" dirty="0">
                <a:latin typeface="Times New Roman" panose="02020603050405020304" pitchFamily="18" charset="0"/>
                <a:cs typeface="Times New Roman" panose="02020603050405020304" pitchFamily="18" charset="0"/>
              </a:rPr>
              <a:t>Microsoft Excel / CSV dataset</a:t>
            </a:r>
          </a:p>
          <a:p>
            <a:r>
              <a:rPr lang="en-US" sz="1800" dirty="0">
                <a:latin typeface="Times New Roman" panose="02020603050405020304" pitchFamily="18" charset="0"/>
                <a:cs typeface="Times New Roman" panose="02020603050405020304" pitchFamily="18" charset="0"/>
              </a:rPr>
              <a:t>Windows Operating System</a:t>
            </a:r>
          </a:p>
          <a:p>
            <a:pPr marL="0" indent="0">
              <a:spcBef>
                <a:spcPct val="20000"/>
              </a:spcBef>
              <a:spcAft>
                <a:spcPts val="600"/>
              </a:spcAft>
              <a:buNone/>
            </a:pPr>
            <a:endParaRPr lang="en-GB"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F7307B-90C5-29DC-4D69-EAA209D8A4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F57C84-20D2-1B05-4C1E-A2DA02316908}"/>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panose="020B0604020202020204"/>
                <a:cs typeface="Arial" panose="020B0604020202020204"/>
              </a:rPr>
              <a:t>System  Approach:</a:t>
            </a:r>
            <a:endParaRPr lang="en-US" sz="4000" dirty="0"/>
          </a:p>
        </p:txBody>
      </p:sp>
      <p:sp>
        <p:nvSpPr>
          <p:cNvPr id="3" name="Content Placeholder 2">
            <a:extLst>
              <a:ext uri="{FF2B5EF4-FFF2-40B4-BE49-F238E27FC236}">
                <a16:creationId xmlns:a16="http://schemas.microsoft.com/office/drawing/2014/main" id="{B0B8BFBD-C7AB-2F2A-9FDF-C6F57AF54C4F}"/>
              </a:ext>
            </a:extLst>
          </p:cNvPr>
          <p:cNvSpPr>
            <a:spLocks noGrp="1"/>
          </p:cNvSpPr>
          <p:nvPr>
            <p:ph idx="1"/>
          </p:nvPr>
        </p:nvSpPr>
        <p:spPr>
          <a:xfrm>
            <a:off x="0" y="1362309"/>
            <a:ext cx="10515600" cy="4251960"/>
          </a:xfrm>
        </p:spPr>
        <p:txBody>
          <a:bodyPr vert="horz" lIns="91440" tIns="45720" rIns="91440" bIns="45720" rtlCol="0">
            <a:noAutofit/>
          </a:bodyPr>
          <a:lstStyle/>
          <a:p>
            <a:pPr marL="0" indent="0">
              <a:buNone/>
            </a:pPr>
            <a:r>
              <a:rPr lang="en-US" sz="1800" b="1" dirty="0">
                <a:latin typeface="Times New Roman" panose="02020603050405020304" pitchFamily="18" charset="0"/>
                <a:cs typeface="Times New Roman" panose="02020603050405020304" pitchFamily="18" charset="0"/>
              </a:rPr>
              <a:t>Dataset Used: Sleep Health and Lifestyle Dataset</a:t>
            </a: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Dataset Description: </a:t>
            </a:r>
          </a:p>
          <a:p>
            <a:pPr marL="0" indent="0">
              <a:buNone/>
            </a:pPr>
            <a:r>
              <a:rPr lang="en-US" sz="1800" dirty="0">
                <a:latin typeface="Times New Roman" panose="02020603050405020304" pitchFamily="18" charset="0"/>
                <a:cs typeface="Times New Roman" panose="02020603050405020304" pitchFamily="18" charset="0"/>
              </a:rPr>
              <a:t>This dataset contains information about individuals’ sleep habits and lifestyle factors that influence sleep health. It helps analyze the relationship between sleep duration, stress levels, physical activity, BMI, occupation, and sleep disorders.</a:t>
            </a:r>
          </a:p>
          <a:p>
            <a:pPr marL="0" indent="0">
              <a:buNone/>
            </a:pPr>
            <a:r>
              <a:rPr lang="en-US" sz="1800" b="1" dirty="0">
                <a:latin typeface="Times New Roman" panose="02020603050405020304" pitchFamily="18" charset="0"/>
                <a:cs typeface="Times New Roman" panose="02020603050405020304" pitchFamily="18" charset="0"/>
              </a:rPr>
              <a:t>Key Attributes in the Dataset</a:t>
            </a:r>
          </a:p>
          <a:p>
            <a:pPr marL="0" indent="0">
              <a:buNone/>
            </a:pPr>
            <a:endParaRPr lang="en-US" sz="1800" b="1" dirty="0">
              <a:latin typeface="Times New Roman" panose="02020603050405020304" pitchFamily="18" charset="0"/>
              <a:cs typeface="Times New Roman" panose="02020603050405020304" pitchFamily="18" charset="0"/>
            </a:endParaRPr>
          </a:p>
          <a:p>
            <a:endParaRPr lang="en-US" sz="1800" b="1" dirty="0">
              <a:latin typeface="Times New Roman" panose="02020603050405020304" pitchFamily="18" charset="0"/>
              <a:cs typeface="Times New Roman" panose="02020603050405020304" pitchFamily="18" charset="0"/>
            </a:endParaRPr>
          </a:p>
          <a:p>
            <a:endParaRPr lang="en-US" sz="1800" b="1" dirty="0">
              <a:latin typeface="Times New Roman" panose="02020603050405020304" pitchFamily="18" charset="0"/>
              <a:cs typeface="Times New Roman" panose="02020603050405020304" pitchFamily="18" charset="0"/>
            </a:endParaRPr>
          </a:p>
          <a:p>
            <a:endParaRPr lang="en-US" sz="1800" b="1" dirty="0">
              <a:latin typeface="Times New Roman" panose="02020603050405020304" pitchFamily="18" charset="0"/>
              <a:cs typeface="Times New Roman" panose="02020603050405020304" pitchFamily="18" charset="0"/>
            </a:endParaRPr>
          </a:p>
          <a:p>
            <a:endParaRPr lang="en-US" sz="1800" b="1" dirty="0">
              <a:latin typeface="Times New Roman" panose="02020603050405020304" pitchFamily="18" charset="0"/>
              <a:cs typeface="Times New Roman" panose="02020603050405020304" pitchFamily="18" charset="0"/>
            </a:endParaRPr>
          </a:p>
          <a:p>
            <a:endParaRPr lang="en-US" sz="1800" b="1"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Purpose of the Dataset</a:t>
            </a:r>
          </a:p>
          <a:p>
            <a:pPr marL="0" indent="0">
              <a:buNone/>
            </a:pPr>
            <a:r>
              <a:rPr lang="en-US" sz="1800" dirty="0">
                <a:latin typeface="Times New Roman" panose="02020603050405020304" pitchFamily="18" charset="0"/>
                <a:cs typeface="Times New Roman" panose="02020603050405020304" pitchFamily="18" charset="0"/>
              </a:rPr>
              <a:t>The dataset is used to analyze how different lifestyle factors affect sleep patterns and to identify trends related to sleep quality and sleep disorders.</a:t>
            </a:r>
          </a:p>
          <a:p>
            <a:pPr marL="0" indent="0">
              <a:spcBef>
                <a:spcPct val="20000"/>
              </a:spcBef>
              <a:spcAft>
                <a:spcPts val="600"/>
              </a:spcAft>
              <a:buNone/>
            </a:pPr>
            <a:endParaRPr lang="en-GB" sz="18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D1BF772F-83C1-F052-9F16-1C5714DD6A30}"/>
              </a:ext>
            </a:extLst>
          </p:cNvPr>
          <p:cNvGraphicFramePr>
            <a:graphicFrameLocks noGrp="1"/>
          </p:cNvGraphicFramePr>
          <p:nvPr>
            <p:extLst>
              <p:ext uri="{D42A27DB-BD31-4B8C-83A1-F6EECF244321}">
                <p14:modId xmlns:p14="http://schemas.microsoft.com/office/powerpoint/2010/main" val="3512008766"/>
              </p:ext>
            </p:extLst>
          </p:nvPr>
        </p:nvGraphicFramePr>
        <p:xfrm>
          <a:off x="121298" y="2935370"/>
          <a:ext cx="9349274" cy="2560320"/>
        </p:xfrm>
        <a:graphic>
          <a:graphicData uri="http://schemas.openxmlformats.org/drawingml/2006/table">
            <a:tbl>
              <a:tblPr/>
              <a:tblGrid>
                <a:gridCol w="4674637">
                  <a:extLst>
                    <a:ext uri="{9D8B030D-6E8A-4147-A177-3AD203B41FA5}">
                      <a16:colId xmlns:a16="http://schemas.microsoft.com/office/drawing/2014/main" val="2483283369"/>
                    </a:ext>
                  </a:extLst>
                </a:gridCol>
                <a:gridCol w="4674637">
                  <a:extLst>
                    <a:ext uri="{9D8B030D-6E8A-4147-A177-3AD203B41FA5}">
                      <a16:colId xmlns:a16="http://schemas.microsoft.com/office/drawing/2014/main" val="63302425"/>
                    </a:ext>
                  </a:extLst>
                </a:gridCol>
              </a:tblGrid>
              <a:tr h="295242">
                <a:tc>
                  <a:txBody>
                    <a:bodyPr/>
                    <a:lstStyle/>
                    <a:p>
                      <a:pPr>
                        <a:buNone/>
                      </a:pPr>
                      <a:endParaRPr lang="en-IN"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endParaRPr lang="en-IN">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943102613"/>
                  </a:ext>
                </a:extLst>
              </a:tr>
              <a:tr h="295242">
                <a:tc>
                  <a:txBody>
                    <a:bodyPr/>
                    <a:lstStyle/>
                    <a:p>
                      <a:pPr>
                        <a:buNone/>
                      </a:pPr>
                      <a:r>
                        <a:rPr lang="en-IN" dirty="0">
                          <a:latin typeface="Times New Roman" panose="02020603050405020304" pitchFamily="18" charset="0"/>
                          <a:cs typeface="Times New Roman" panose="02020603050405020304" pitchFamily="18" charset="0"/>
                        </a:rPr>
                        <a:t>Age</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Stress Level</a:t>
                      </a:r>
                    </a:p>
                  </a:txBody>
                  <a:tcPr anchor="ctr">
                    <a:lnL>
                      <a:noFill/>
                    </a:lnL>
                    <a:lnR>
                      <a:noFill/>
                    </a:lnR>
                    <a:lnT>
                      <a:noFill/>
                    </a:lnT>
                    <a:lnB>
                      <a:noFill/>
                    </a:lnB>
                    <a:noFill/>
                  </a:tcPr>
                </a:tc>
                <a:extLst>
                  <a:ext uri="{0D108BD9-81ED-4DB2-BD59-A6C34878D82A}">
                    <a16:rowId xmlns:a16="http://schemas.microsoft.com/office/drawing/2014/main" val="2613617118"/>
                  </a:ext>
                </a:extLst>
              </a:tr>
              <a:tr h="295242">
                <a:tc>
                  <a:txBody>
                    <a:bodyPr/>
                    <a:lstStyle/>
                    <a:p>
                      <a:pPr>
                        <a:buNone/>
                      </a:pPr>
                      <a:r>
                        <a:rPr lang="en-IN">
                          <a:latin typeface="Times New Roman" panose="02020603050405020304" pitchFamily="18" charset="0"/>
                          <a:cs typeface="Times New Roman" panose="02020603050405020304" pitchFamily="18" charset="0"/>
                        </a:rPr>
                        <a:t>Gender</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BMI Category</a:t>
                      </a:r>
                    </a:p>
                  </a:txBody>
                  <a:tcPr anchor="ctr">
                    <a:lnL>
                      <a:noFill/>
                    </a:lnL>
                    <a:lnR>
                      <a:noFill/>
                    </a:lnR>
                    <a:lnT>
                      <a:noFill/>
                    </a:lnT>
                    <a:lnB>
                      <a:noFill/>
                    </a:lnB>
                    <a:noFill/>
                  </a:tcPr>
                </a:tc>
                <a:extLst>
                  <a:ext uri="{0D108BD9-81ED-4DB2-BD59-A6C34878D82A}">
                    <a16:rowId xmlns:a16="http://schemas.microsoft.com/office/drawing/2014/main" val="4073564711"/>
                  </a:ext>
                </a:extLst>
              </a:tr>
              <a:tr h="295242">
                <a:tc>
                  <a:txBody>
                    <a:bodyPr/>
                    <a:lstStyle/>
                    <a:p>
                      <a:pPr>
                        <a:buNone/>
                      </a:pPr>
                      <a:r>
                        <a:rPr lang="en-IN">
                          <a:latin typeface="Times New Roman" panose="02020603050405020304" pitchFamily="18" charset="0"/>
                          <a:cs typeface="Times New Roman" panose="02020603050405020304" pitchFamily="18" charset="0"/>
                        </a:rPr>
                        <a:t>Occupation</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Physical Activity Level</a:t>
                      </a:r>
                    </a:p>
                  </a:txBody>
                  <a:tcPr anchor="ctr">
                    <a:lnL>
                      <a:noFill/>
                    </a:lnL>
                    <a:lnR>
                      <a:noFill/>
                    </a:lnR>
                    <a:lnT>
                      <a:noFill/>
                    </a:lnT>
                    <a:lnB>
                      <a:noFill/>
                    </a:lnB>
                    <a:noFill/>
                  </a:tcPr>
                </a:tc>
                <a:extLst>
                  <a:ext uri="{0D108BD9-81ED-4DB2-BD59-A6C34878D82A}">
                    <a16:rowId xmlns:a16="http://schemas.microsoft.com/office/drawing/2014/main" val="2715387282"/>
                  </a:ext>
                </a:extLst>
              </a:tr>
              <a:tr h="295242">
                <a:tc>
                  <a:txBody>
                    <a:bodyPr/>
                    <a:lstStyle/>
                    <a:p>
                      <a:pPr>
                        <a:buNone/>
                      </a:pPr>
                      <a:r>
                        <a:rPr lang="en-IN">
                          <a:latin typeface="Times New Roman" panose="02020603050405020304" pitchFamily="18" charset="0"/>
                          <a:cs typeface="Times New Roman" panose="02020603050405020304" pitchFamily="18" charset="0"/>
                        </a:rPr>
                        <a:t>Sleep Duration</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Daily Steps</a:t>
                      </a:r>
                    </a:p>
                  </a:txBody>
                  <a:tcPr anchor="ctr">
                    <a:lnL>
                      <a:noFill/>
                    </a:lnL>
                    <a:lnR>
                      <a:noFill/>
                    </a:lnR>
                    <a:lnT>
                      <a:noFill/>
                    </a:lnT>
                    <a:lnB>
                      <a:noFill/>
                    </a:lnB>
                    <a:noFill/>
                  </a:tcPr>
                </a:tc>
                <a:extLst>
                  <a:ext uri="{0D108BD9-81ED-4DB2-BD59-A6C34878D82A}">
                    <a16:rowId xmlns:a16="http://schemas.microsoft.com/office/drawing/2014/main" val="1576341776"/>
                  </a:ext>
                </a:extLst>
              </a:tr>
              <a:tr h="295242">
                <a:tc>
                  <a:txBody>
                    <a:bodyPr/>
                    <a:lstStyle/>
                    <a:p>
                      <a:pPr>
                        <a:buNone/>
                      </a:pPr>
                      <a:r>
                        <a:rPr lang="en-IN" dirty="0">
                          <a:latin typeface="Times New Roman" panose="02020603050405020304" pitchFamily="18" charset="0"/>
                          <a:cs typeface="Times New Roman" panose="02020603050405020304" pitchFamily="18" charset="0"/>
                        </a:rPr>
                        <a:t>Quality of Sleep</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Heart Rate</a:t>
                      </a:r>
                    </a:p>
                  </a:txBody>
                  <a:tcPr anchor="ctr">
                    <a:lnL>
                      <a:noFill/>
                    </a:lnL>
                    <a:lnR>
                      <a:noFill/>
                    </a:lnR>
                    <a:lnT>
                      <a:noFill/>
                    </a:lnT>
                    <a:lnB>
                      <a:noFill/>
                    </a:lnB>
                    <a:noFill/>
                  </a:tcPr>
                </a:tc>
                <a:extLst>
                  <a:ext uri="{0D108BD9-81ED-4DB2-BD59-A6C34878D82A}">
                    <a16:rowId xmlns:a16="http://schemas.microsoft.com/office/drawing/2014/main" val="966305038"/>
                  </a:ext>
                </a:extLst>
              </a:tr>
              <a:tr h="295242">
                <a:tc>
                  <a:txBody>
                    <a:bodyPr/>
                    <a:lstStyle/>
                    <a:p>
                      <a:pPr>
                        <a:buNone/>
                      </a:pPr>
                      <a:r>
                        <a:rPr lang="en-IN" dirty="0">
                          <a:latin typeface="Times New Roman" panose="02020603050405020304" pitchFamily="18" charset="0"/>
                          <a:cs typeface="Times New Roman" panose="02020603050405020304" pitchFamily="18" charset="0"/>
                        </a:rPr>
                        <a:t>Sleep Disorder</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Blood Pressure</a:t>
                      </a:r>
                    </a:p>
                  </a:txBody>
                  <a:tcPr anchor="ctr">
                    <a:lnL>
                      <a:noFill/>
                    </a:lnL>
                    <a:lnR>
                      <a:noFill/>
                    </a:lnR>
                    <a:lnT>
                      <a:noFill/>
                    </a:lnT>
                    <a:lnB>
                      <a:noFill/>
                    </a:lnB>
                    <a:noFill/>
                  </a:tcPr>
                </a:tc>
                <a:extLst>
                  <a:ext uri="{0D108BD9-81ED-4DB2-BD59-A6C34878D82A}">
                    <a16:rowId xmlns:a16="http://schemas.microsoft.com/office/drawing/2014/main" val="330288514"/>
                  </a:ext>
                </a:extLst>
              </a:tr>
            </a:tbl>
          </a:graphicData>
        </a:graphic>
      </p:graphicFrame>
    </p:spTree>
    <p:extLst>
      <p:ext uri="{BB962C8B-B14F-4D97-AF65-F5344CB8AC3E}">
        <p14:creationId xmlns:p14="http://schemas.microsoft.com/office/powerpoint/2010/main" val="3838559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6EE720-181E-EF89-E315-8545A3255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460FCA-68B1-E5B2-6A60-F7D15323818C}"/>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panose="020B0604020202020204"/>
                <a:cs typeface="Arial" panose="020B0604020202020204"/>
              </a:rPr>
              <a:t>System  Approach:</a:t>
            </a:r>
            <a:endParaRPr lang="en-US" sz="4000" dirty="0"/>
          </a:p>
        </p:txBody>
      </p:sp>
      <p:sp>
        <p:nvSpPr>
          <p:cNvPr id="3" name="Content Placeholder 2">
            <a:extLst>
              <a:ext uri="{FF2B5EF4-FFF2-40B4-BE49-F238E27FC236}">
                <a16:creationId xmlns:a16="http://schemas.microsoft.com/office/drawing/2014/main" id="{45FFA9ED-2A36-9CBF-EFA1-D811DD2B26A0}"/>
              </a:ext>
            </a:extLst>
          </p:cNvPr>
          <p:cNvSpPr>
            <a:spLocks noGrp="1"/>
          </p:cNvSpPr>
          <p:nvPr>
            <p:ph idx="1"/>
          </p:nvPr>
        </p:nvSpPr>
        <p:spPr>
          <a:xfrm>
            <a:off x="242764" y="1539590"/>
            <a:ext cx="10515600" cy="4251960"/>
          </a:xfrm>
        </p:spPr>
        <p:txBody>
          <a:bodyPr vert="horz" lIns="91440" tIns="45720" rIns="91440" bIns="45720" rtlCol="0">
            <a:noAutofit/>
          </a:bodyPr>
          <a:lstStyle/>
          <a:p>
            <a:pPr marL="0" indent="0">
              <a:buNone/>
            </a:pPr>
            <a:r>
              <a:rPr lang="en-US" sz="1800" b="1" dirty="0">
                <a:latin typeface="Times New Roman" panose="02020603050405020304" pitchFamily="18" charset="0"/>
                <a:cs typeface="Times New Roman" panose="02020603050405020304" pitchFamily="18" charset="0"/>
              </a:rPr>
              <a:t>Power BI Features Used:</a:t>
            </a:r>
          </a:p>
          <a:p>
            <a:pPr marL="0" indent="0">
              <a:buNone/>
            </a:pPr>
            <a:r>
              <a:rPr lang="en-US" sz="1800" b="1" dirty="0">
                <a:latin typeface="Times New Roman" panose="02020603050405020304" pitchFamily="18" charset="0"/>
                <a:cs typeface="Times New Roman" panose="02020603050405020304" pitchFamily="18" charset="0"/>
              </a:rPr>
              <a:t>Slicers: </a:t>
            </a:r>
            <a:r>
              <a:rPr lang="en-US" sz="1800" dirty="0">
                <a:latin typeface="Times New Roman" panose="02020603050405020304" pitchFamily="18" charset="0"/>
                <a:cs typeface="Times New Roman" panose="02020603050405020304" pitchFamily="18" charset="0"/>
              </a:rPr>
              <a:t>These allow users to dynamically filter the dashboard data.</a:t>
            </a:r>
          </a:p>
          <a:p>
            <a:r>
              <a:rPr lang="en-US" sz="1800" dirty="0">
                <a:latin typeface="Times New Roman" panose="02020603050405020304" pitchFamily="18" charset="0"/>
                <a:cs typeface="Times New Roman" panose="02020603050405020304" pitchFamily="18" charset="0"/>
              </a:rPr>
              <a:t>Gender slicer</a:t>
            </a:r>
          </a:p>
          <a:p>
            <a:r>
              <a:rPr lang="en-US" sz="1800" dirty="0">
                <a:latin typeface="Times New Roman" panose="02020603050405020304" pitchFamily="18" charset="0"/>
                <a:cs typeface="Times New Roman" panose="02020603050405020304" pitchFamily="18" charset="0"/>
              </a:rPr>
              <a:t>Occupation slicer</a:t>
            </a:r>
          </a:p>
          <a:p>
            <a:r>
              <a:rPr lang="en-US" sz="1800" dirty="0">
                <a:latin typeface="Times New Roman" panose="02020603050405020304" pitchFamily="18" charset="0"/>
                <a:cs typeface="Times New Roman" panose="02020603050405020304" pitchFamily="18" charset="0"/>
              </a:rPr>
              <a:t>Sleep disorder filter</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KPI Cards: </a:t>
            </a:r>
            <a:r>
              <a:rPr lang="en-US" sz="1800" dirty="0">
                <a:latin typeface="Times New Roman" panose="02020603050405020304" pitchFamily="18" charset="0"/>
                <a:cs typeface="Times New Roman" panose="02020603050405020304" pitchFamily="18" charset="0"/>
              </a:rPr>
              <a:t>Used to display key metrics such as:</a:t>
            </a:r>
          </a:p>
          <a:p>
            <a:r>
              <a:rPr lang="en-US" sz="1800" dirty="0">
                <a:latin typeface="Times New Roman" panose="02020603050405020304" pitchFamily="18" charset="0"/>
                <a:cs typeface="Times New Roman" panose="02020603050405020304" pitchFamily="18" charset="0"/>
              </a:rPr>
              <a:t>Average Sleep Duration</a:t>
            </a:r>
          </a:p>
          <a:p>
            <a:r>
              <a:rPr lang="en-US" sz="1800" dirty="0">
                <a:latin typeface="Times New Roman" panose="02020603050405020304" pitchFamily="18" charset="0"/>
                <a:cs typeface="Times New Roman" panose="02020603050405020304" pitchFamily="18" charset="0"/>
              </a:rPr>
              <a:t>Average Stress Level</a:t>
            </a:r>
          </a:p>
          <a:p>
            <a:r>
              <a:rPr lang="en-US" sz="1800" dirty="0">
                <a:latin typeface="Times New Roman" panose="02020603050405020304" pitchFamily="18" charset="0"/>
                <a:cs typeface="Times New Roman" panose="02020603050405020304" pitchFamily="18" charset="0"/>
              </a:rPr>
              <a:t>Average Physical Activity Level</a:t>
            </a: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Bar Charts</a:t>
            </a:r>
          </a:p>
          <a:p>
            <a:r>
              <a:rPr lang="en-US" sz="1800" dirty="0">
                <a:latin typeface="Times New Roman" panose="02020603050405020304" pitchFamily="18" charset="0"/>
                <a:cs typeface="Times New Roman" panose="02020603050405020304" pitchFamily="18" charset="0"/>
              </a:rPr>
              <a:t>Stress level by occupation</a:t>
            </a:r>
          </a:p>
          <a:p>
            <a:r>
              <a:rPr lang="en-US" sz="1800" dirty="0">
                <a:latin typeface="Times New Roman" panose="02020603050405020304" pitchFamily="18" charset="0"/>
                <a:cs typeface="Times New Roman" panose="02020603050405020304" pitchFamily="18" charset="0"/>
              </a:rPr>
              <a:t>Sleep duration by occupation</a:t>
            </a:r>
          </a:p>
          <a:p>
            <a:pPr marL="0" indent="0">
              <a:spcBef>
                <a:spcPct val="20000"/>
              </a:spcBef>
              <a:spcAft>
                <a:spcPts val="600"/>
              </a:spcAft>
              <a:buNone/>
            </a:pPr>
            <a:endParaRPr lang="en-GB"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163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D8839C-B031-2828-AC40-A140314379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011A29-23B7-2978-B2E8-E56247BDFC5A}"/>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panose="020B0604020202020204"/>
                <a:cs typeface="Arial" panose="020B0604020202020204"/>
              </a:rPr>
              <a:t>System  Approach:</a:t>
            </a:r>
            <a:endParaRPr lang="en-US" sz="4000" dirty="0"/>
          </a:p>
        </p:txBody>
      </p:sp>
      <p:sp>
        <p:nvSpPr>
          <p:cNvPr id="3" name="Content Placeholder 2">
            <a:extLst>
              <a:ext uri="{FF2B5EF4-FFF2-40B4-BE49-F238E27FC236}">
                <a16:creationId xmlns:a16="http://schemas.microsoft.com/office/drawing/2014/main" id="{62518582-4060-1545-DCA6-E5FAFF9992B3}"/>
              </a:ext>
            </a:extLst>
          </p:cNvPr>
          <p:cNvSpPr>
            <a:spLocks noGrp="1"/>
          </p:cNvSpPr>
          <p:nvPr>
            <p:ph idx="1"/>
          </p:nvPr>
        </p:nvSpPr>
        <p:spPr>
          <a:xfrm>
            <a:off x="224103" y="1688880"/>
            <a:ext cx="10515600" cy="4251960"/>
          </a:xfrm>
        </p:spPr>
        <p:txBody>
          <a:bodyPr vert="horz" lIns="91440" tIns="45720" rIns="91440" bIns="45720" rtlCol="0">
            <a:noAutofit/>
          </a:bodyPr>
          <a:lstStyle/>
          <a:p>
            <a:pPr marL="0" indent="0">
              <a:buNone/>
            </a:pPr>
            <a:r>
              <a:rPr lang="en-US" sz="1800" b="1" dirty="0">
                <a:latin typeface="Times New Roman" panose="02020603050405020304" pitchFamily="18" charset="0"/>
                <a:cs typeface="Times New Roman" panose="02020603050405020304" pitchFamily="18" charset="0"/>
              </a:rPr>
              <a:t>Power BI Features Used:</a:t>
            </a:r>
          </a:p>
          <a:p>
            <a:pPr marL="0" indent="0">
              <a:buNone/>
            </a:pPr>
            <a:r>
              <a:rPr lang="en-US" sz="1800" b="1" dirty="0">
                <a:latin typeface="Times New Roman" panose="02020603050405020304" pitchFamily="18" charset="0"/>
                <a:cs typeface="Times New Roman" panose="02020603050405020304" pitchFamily="18" charset="0"/>
              </a:rPr>
              <a:t>Pie Charts: </a:t>
            </a:r>
            <a:r>
              <a:rPr lang="en-US" sz="1800" dirty="0">
                <a:latin typeface="Times New Roman" panose="02020603050405020304" pitchFamily="18" charset="0"/>
                <a:cs typeface="Times New Roman" panose="02020603050405020304" pitchFamily="18" charset="0"/>
              </a:rPr>
              <a:t>Used to represent:</a:t>
            </a:r>
          </a:p>
          <a:p>
            <a:r>
              <a:rPr lang="en-US" sz="1800" dirty="0">
                <a:latin typeface="Times New Roman" panose="02020603050405020304" pitchFamily="18" charset="0"/>
                <a:cs typeface="Times New Roman" panose="02020603050405020304" pitchFamily="18" charset="0"/>
              </a:rPr>
              <a:t>Gender comparison in sleep duration and quality</a:t>
            </a:r>
          </a:p>
          <a:p>
            <a:r>
              <a:rPr lang="en-US" sz="1800" dirty="0">
                <a:latin typeface="Times New Roman" panose="02020603050405020304" pitchFamily="18" charset="0"/>
                <a:cs typeface="Times New Roman" panose="02020603050405020304" pitchFamily="18" charset="0"/>
              </a:rPr>
              <a:t>BMI category distribution</a:t>
            </a: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Line / Combined Charts: </a:t>
            </a:r>
            <a:r>
              <a:rPr lang="en-US" sz="1800" dirty="0">
                <a:latin typeface="Times New Roman" panose="02020603050405020304" pitchFamily="18" charset="0"/>
                <a:cs typeface="Times New Roman" panose="02020603050405020304" pitchFamily="18" charset="0"/>
              </a:rPr>
              <a:t>Used to compare:</a:t>
            </a:r>
          </a:p>
          <a:p>
            <a:r>
              <a:rPr lang="en-US" sz="1800" dirty="0">
                <a:latin typeface="Times New Roman" panose="02020603050405020304" pitchFamily="18" charset="0"/>
                <a:cs typeface="Times New Roman" panose="02020603050405020304" pitchFamily="18" charset="0"/>
              </a:rPr>
              <a:t>Daily steps and physical activity level across occupations</a:t>
            </a: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Stacked Column Charts: </a:t>
            </a:r>
            <a:r>
              <a:rPr lang="en-US" sz="1800" dirty="0">
                <a:latin typeface="Times New Roman" panose="02020603050405020304" pitchFamily="18" charset="0"/>
                <a:cs typeface="Times New Roman" panose="02020603050405020304" pitchFamily="18" charset="0"/>
              </a:rPr>
              <a:t>Used to analyze:</a:t>
            </a:r>
          </a:p>
          <a:p>
            <a:r>
              <a:rPr lang="en-US" sz="1800" dirty="0">
                <a:latin typeface="Times New Roman" panose="02020603050405020304" pitchFamily="18" charset="0"/>
                <a:cs typeface="Times New Roman" panose="02020603050405020304" pitchFamily="18" charset="0"/>
              </a:rPr>
              <a:t>Sleep disorders by occupation</a:t>
            </a:r>
          </a:p>
          <a:p>
            <a:r>
              <a:rPr lang="en-US" sz="1800" dirty="0">
                <a:latin typeface="Times New Roman" panose="02020603050405020304" pitchFamily="18" charset="0"/>
                <a:cs typeface="Times New Roman" panose="02020603050405020304" pitchFamily="18" charset="0"/>
              </a:rPr>
              <a:t>BMI category distribution across occupations</a:t>
            </a:r>
          </a:p>
          <a:p>
            <a:pPr marL="0" indent="0">
              <a:spcBef>
                <a:spcPct val="20000"/>
              </a:spcBef>
              <a:spcAft>
                <a:spcPts val="600"/>
              </a:spcAft>
              <a:buNone/>
            </a:pPr>
            <a:endParaRPr lang="en-GB"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88037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Result:</a:t>
            </a:r>
            <a:endParaRPr lang="en-US" sz="4000" dirty="0"/>
          </a:p>
        </p:txBody>
      </p:sp>
      <p:sp>
        <p:nvSpPr>
          <p:cNvPr id="3" name="Content Placeholder 2"/>
          <p:cNvSpPr>
            <a:spLocks noGrp="1"/>
          </p:cNvSpPr>
          <p:nvPr>
            <p:ph idx="1"/>
          </p:nvPr>
        </p:nvSpPr>
        <p:spPr>
          <a:xfrm>
            <a:off x="319476" y="1546781"/>
            <a:ext cx="10515600" cy="4251960"/>
          </a:xfrm>
        </p:spPr>
        <p:txBody>
          <a:bodyPr vert="horz" lIns="91440" tIns="45720" rIns="91440" bIns="45720" rtlCol="0">
            <a:normAutofit lnSpcReduction="10000"/>
          </a:bodyPr>
          <a:lstStyle/>
          <a:p>
            <a:pPr marL="0" indent="0">
              <a:buNone/>
            </a:pPr>
            <a:r>
              <a:rPr lang="en-US" sz="1800" dirty="0">
                <a:latin typeface="Times New Roman" panose="02020603050405020304" pitchFamily="18" charset="0"/>
                <a:cs typeface="Times New Roman" panose="02020603050405020304" pitchFamily="18" charset="0"/>
              </a:rPr>
              <a:t>The developed Power BI dashboard successfully visualizes the relationship between sleep health and lifestyle factors such as stress level, physical activity, BMI, occupation, and sleep disorders. The interactive dashboard enables users to explore patterns and trends in sleep duration and sleep quality.</a:t>
            </a:r>
            <a:endParaRPr lang="en-GB" sz="1800"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Key Results</a:t>
            </a:r>
          </a:p>
          <a:p>
            <a:r>
              <a:rPr lang="en-US" sz="1800" dirty="0">
                <a:latin typeface="Times New Roman" panose="02020603050405020304" pitchFamily="18" charset="0"/>
                <a:cs typeface="Times New Roman" panose="02020603050405020304" pitchFamily="18" charset="0"/>
              </a:rPr>
              <a:t>Identification of occupations with higher stress levels and lower sleep quality.</a:t>
            </a:r>
          </a:p>
          <a:p>
            <a:r>
              <a:rPr lang="en-US" sz="1800" dirty="0">
                <a:latin typeface="Times New Roman" panose="02020603050405020304" pitchFamily="18" charset="0"/>
                <a:cs typeface="Times New Roman" panose="02020603050405020304" pitchFamily="18" charset="0"/>
              </a:rPr>
              <a:t>Analysis of the relationship between physical activity and sleep duration.</a:t>
            </a:r>
          </a:p>
          <a:p>
            <a:r>
              <a:rPr lang="en-US" sz="1800" dirty="0">
                <a:latin typeface="Times New Roman" panose="02020603050405020304" pitchFamily="18" charset="0"/>
                <a:cs typeface="Times New Roman" panose="02020603050405020304" pitchFamily="18" charset="0"/>
              </a:rPr>
              <a:t>Visualization of BMI category distribution and its impact on sleep disorders.</a:t>
            </a:r>
          </a:p>
          <a:p>
            <a:r>
              <a:rPr lang="en-US" sz="1800" dirty="0">
                <a:latin typeface="Times New Roman" panose="02020603050405020304" pitchFamily="18" charset="0"/>
                <a:cs typeface="Times New Roman" panose="02020603050405020304" pitchFamily="18" charset="0"/>
              </a:rPr>
              <a:t>Comparison of sleep health patterns across gender and occupations.</a:t>
            </a: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Project Resources</a:t>
            </a:r>
          </a:p>
          <a:p>
            <a:r>
              <a:rPr lang="en-US" sz="1800" b="1" dirty="0">
                <a:latin typeface="Times New Roman" panose="02020603050405020304" pitchFamily="18" charset="0"/>
                <a:cs typeface="Times New Roman" panose="02020603050405020304" pitchFamily="18" charset="0"/>
              </a:rPr>
              <a:t>GitHub Repository:</a:t>
            </a:r>
            <a:r>
              <a:rPr 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hlinkClick r:id="rId2"/>
              </a:rPr>
              <a:t>[Project Repository Link]</a:t>
            </a:r>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Google Drive: </a:t>
            </a:r>
            <a:r>
              <a:rPr lang="en-IN" sz="1800" dirty="0">
                <a:latin typeface="Times New Roman" panose="02020603050405020304" pitchFamily="18" charset="0"/>
                <a:cs typeface="Times New Roman" panose="02020603050405020304" pitchFamily="18" charset="0"/>
                <a:hlinkClick r:id="rId3"/>
              </a:rPr>
              <a:t>[Project Files Link]</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E1ABB2-8F3F-7A9A-6315-3ED93F2AC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9030E0-7046-E116-8E30-F686FD7C0E3F}"/>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panose="020B0604020202020204"/>
                <a:cs typeface="Arial" panose="020B0604020202020204"/>
              </a:rPr>
              <a:t>Result:</a:t>
            </a:r>
            <a:endParaRPr lang="en-US" sz="4000" dirty="0"/>
          </a:p>
        </p:txBody>
      </p:sp>
      <p:sp>
        <p:nvSpPr>
          <p:cNvPr id="3" name="Content Placeholder 2">
            <a:extLst>
              <a:ext uri="{FF2B5EF4-FFF2-40B4-BE49-F238E27FC236}">
                <a16:creationId xmlns:a16="http://schemas.microsoft.com/office/drawing/2014/main" id="{FA257EEB-BBAA-4FC7-DF22-64FB7429BEEB}"/>
              </a:ext>
            </a:extLst>
          </p:cNvPr>
          <p:cNvSpPr>
            <a:spLocks noGrp="1"/>
          </p:cNvSpPr>
          <p:nvPr>
            <p:ph idx="1"/>
          </p:nvPr>
        </p:nvSpPr>
        <p:spPr>
          <a:xfrm>
            <a:off x="0" y="1266031"/>
            <a:ext cx="10515600" cy="4251960"/>
          </a:xfrm>
        </p:spPr>
        <p:txBody>
          <a:bodyPr vert="horz" lIns="91440" tIns="45720" rIns="91440" bIns="45720" rtlCol="0">
            <a:normAutofit/>
          </a:bodyPr>
          <a:lstStyle/>
          <a:p>
            <a:pPr marL="0" indent="0">
              <a:buNone/>
            </a:pPr>
            <a:r>
              <a:rPr lang="en-IN" sz="1800" b="1" dirty="0">
                <a:latin typeface="Times New Roman" panose="02020603050405020304" pitchFamily="18" charset="0"/>
                <a:cs typeface="Times New Roman" panose="02020603050405020304" pitchFamily="18" charset="0"/>
              </a:rPr>
              <a:t>Sleep Health Overview:</a:t>
            </a:r>
          </a:p>
          <a:p>
            <a:pPr marL="0" indent="0">
              <a:buNone/>
            </a:pPr>
            <a:r>
              <a:rPr lang="en-US" sz="1800" dirty="0">
                <a:latin typeface="Times New Roman" panose="02020603050405020304" pitchFamily="18" charset="0"/>
                <a:cs typeface="Times New Roman" panose="02020603050405020304" pitchFamily="18" charset="0"/>
              </a:rPr>
              <a:t>Overview dashboard showing sleep health, stress, activity, and BMI insights. </a:t>
            </a:r>
            <a:r>
              <a:rPr lang="en-US" sz="1800" dirty="0">
                <a:latin typeface="Times New Roman" panose="02020603050405020304" pitchFamily="18" charset="0"/>
                <a:cs typeface="Times New Roman" panose="02020603050405020304" pitchFamily="18" charset="0"/>
                <a:hlinkClick r:id="rId2"/>
              </a:rPr>
              <a:t>[Link]</a:t>
            </a:r>
            <a:endParaRPr lang="en-US" sz="1800" dirty="0">
              <a:latin typeface="Times New Roman" panose="02020603050405020304" pitchFamily="18" charset="0"/>
              <a:cs typeface="Times New Roman" panose="02020603050405020304" pitchFamily="18" charset="0"/>
            </a:endParaRPr>
          </a:p>
          <a:p>
            <a:pPr marL="0" indent="0">
              <a:buNone/>
            </a:pPr>
            <a:endParaRPr lang="en-IN" sz="1800" b="1"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27D1BB0-4C37-C329-3BB2-AC4B54D1A9EE}"/>
              </a:ext>
            </a:extLst>
          </p:cNvPr>
          <p:cNvPicPr>
            <a:picLocks noChangeAspect="1"/>
          </p:cNvPicPr>
          <p:nvPr/>
        </p:nvPicPr>
        <p:blipFill>
          <a:blip r:embed="rId3"/>
          <a:stretch>
            <a:fillRect/>
          </a:stretch>
        </p:blipFill>
        <p:spPr>
          <a:xfrm>
            <a:off x="1749855" y="2000869"/>
            <a:ext cx="8429406" cy="4661189"/>
          </a:xfrm>
          <a:prstGeom prst="rect">
            <a:avLst/>
          </a:prstGeom>
        </p:spPr>
      </p:pic>
    </p:spTree>
    <p:extLst>
      <p:ext uri="{BB962C8B-B14F-4D97-AF65-F5344CB8AC3E}">
        <p14:creationId xmlns:p14="http://schemas.microsoft.com/office/powerpoint/2010/main" val="1330020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99199E-B42F-3D0C-E9BB-71390A977C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5A2D7-C9F3-6768-160C-EBD202C8D8D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panose="020B0604020202020204"/>
                <a:cs typeface="Arial" panose="020B0604020202020204"/>
              </a:rPr>
              <a:t>Result:</a:t>
            </a:r>
            <a:endParaRPr lang="en-US" sz="4000" dirty="0"/>
          </a:p>
        </p:txBody>
      </p:sp>
      <p:sp>
        <p:nvSpPr>
          <p:cNvPr id="3" name="Content Placeholder 2">
            <a:extLst>
              <a:ext uri="{FF2B5EF4-FFF2-40B4-BE49-F238E27FC236}">
                <a16:creationId xmlns:a16="http://schemas.microsoft.com/office/drawing/2014/main" id="{AD8BED5D-0750-966D-DC1D-1F4D46277711}"/>
              </a:ext>
            </a:extLst>
          </p:cNvPr>
          <p:cNvSpPr>
            <a:spLocks noGrp="1"/>
          </p:cNvSpPr>
          <p:nvPr>
            <p:ph idx="1"/>
          </p:nvPr>
        </p:nvSpPr>
        <p:spPr>
          <a:xfrm>
            <a:off x="0" y="1266031"/>
            <a:ext cx="10515600" cy="4251960"/>
          </a:xfrm>
        </p:spPr>
        <p:txBody>
          <a:bodyPr vert="horz" lIns="91440" tIns="45720" rIns="91440" bIns="45720" rtlCol="0">
            <a:normAutofit/>
          </a:bodyPr>
          <a:lstStyle/>
          <a:p>
            <a:pPr marL="0" indent="0">
              <a:buNone/>
            </a:pPr>
            <a:r>
              <a:rPr lang="en-IN" sz="1800" b="1" dirty="0">
                <a:latin typeface="Times New Roman" panose="02020603050405020304" pitchFamily="18" charset="0"/>
                <a:cs typeface="Times New Roman" panose="02020603050405020304" pitchFamily="18" charset="0"/>
              </a:rPr>
              <a:t>Sleep Health Analysis By Gender:</a:t>
            </a:r>
          </a:p>
          <a:p>
            <a:pPr marL="0" indent="0">
              <a:buNone/>
            </a:pPr>
            <a:r>
              <a:rPr lang="en-US" sz="1800" dirty="0">
                <a:latin typeface="Times New Roman" panose="02020603050405020304" pitchFamily="18" charset="0"/>
                <a:cs typeface="Times New Roman" panose="02020603050405020304" pitchFamily="18" charset="0"/>
              </a:rPr>
              <a:t>Gender-based comparison of sleep duration, stress levels, sleep quality, BMI, and sleep disorders. </a:t>
            </a:r>
            <a:r>
              <a:rPr lang="en-US" sz="1800" dirty="0">
                <a:latin typeface="Times New Roman" panose="02020603050405020304" pitchFamily="18" charset="0"/>
                <a:cs typeface="Times New Roman" panose="02020603050405020304" pitchFamily="18" charset="0"/>
                <a:hlinkClick r:id="rId2"/>
              </a:rPr>
              <a:t>[Link]</a:t>
            </a:r>
            <a:endParaRPr lang="en-IN" sz="1800" b="1"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7EC7DD8-9A80-854C-521F-8EE6560B83A4}"/>
              </a:ext>
            </a:extLst>
          </p:cNvPr>
          <p:cNvPicPr>
            <a:picLocks noChangeAspect="1"/>
          </p:cNvPicPr>
          <p:nvPr/>
        </p:nvPicPr>
        <p:blipFill>
          <a:blip r:embed="rId3"/>
          <a:stretch>
            <a:fillRect/>
          </a:stretch>
        </p:blipFill>
        <p:spPr>
          <a:xfrm>
            <a:off x="1922107" y="2072209"/>
            <a:ext cx="7973146" cy="4251960"/>
          </a:xfrm>
          <a:prstGeom prst="rect">
            <a:avLst/>
          </a:prstGeom>
        </p:spPr>
      </p:pic>
    </p:spTree>
    <p:extLst>
      <p:ext uri="{BB962C8B-B14F-4D97-AF65-F5344CB8AC3E}">
        <p14:creationId xmlns:p14="http://schemas.microsoft.com/office/powerpoint/2010/main" val="2841820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DDDA05-273D-993E-789C-943AA282BE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DB8983-9B50-540A-0050-C28A90AF7F3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panose="020B0604020202020204"/>
                <a:cs typeface="Arial" panose="020B0604020202020204"/>
              </a:rPr>
              <a:t>Result:</a:t>
            </a:r>
            <a:endParaRPr lang="en-US" sz="4000" dirty="0"/>
          </a:p>
        </p:txBody>
      </p:sp>
      <p:sp>
        <p:nvSpPr>
          <p:cNvPr id="3" name="Content Placeholder 2">
            <a:extLst>
              <a:ext uri="{FF2B5EF4-FFF2-40B4-BE49-F238E27FC236}">
                <a16:creationId xmlns:a16="http://schemas.microsoft.com/office/drawing/2014/main" id="{5DFEDB9B-3244-D359-0D3F-1DCD00D98599}"/>
              </a:ext>
            </a:extLst>
          </p:cNvPr>
          <p:cNvSpPr>
            <a:spLocks noGrp="1"/>
          </p:cNvSpPr>
          <p:nvPr>
            <p:ph idx="1"/>
          </p:nvPr>
        </p:nvSpPr>
        <p:spPr>
          <a:xfrm>
            <a:off x="0" y="1266031"/>
            <a:ext cx="10515600" cy="4251960"/>
          </a:xfrm>
        </p:spPr>
        <p:txBody>
          <a:bodyPr vert="horz" lIns="91440" tIns="45720" rIns="91440" bIns="45720" rtlCol="0">
            <a:normAutofit/>
          </a:bodyPr>
          <a:lstStyle/>
          <a:p>
            <a:pPr marL="0" indent="0">
              <a:buNone/>
            </a:pPr>
            <a:r>
              <a:rPr lang="en-US" sz="1800" b="1" dirty="0">
                <a:latin typeface="Times New Roman" panose="02020603050405020304" pitchFamily="18" charset="0"/>
                <a:cs typeface="Times New Roman" panose="02020603050405020304" pitchFamily="18" charset="0"/>
              </a:rPr>
              <a:t>Sleep Health and Lifestyle by Occupation:</a:t>
            </a:r>
          </a:p>
          <a:p>
            <a:pPr marL="0" indent="0">
              <a:buNone/>
            </a:pPr>
            <a:r>
              <a:rPr lang="en-US" sz="1800" dirty="0">
                <a:latin typeface="Times New Roman" panose="02020603050405020304" pitchFamily="18" charset="0"/>
                <a:cs typeface="Times New Roman" panose="02020603050405020304" pitchFamily="18" charset="0"/>
              </a:rPr>
              <a:t>Occupation-based analysis of stress levels, sleep duration, sleep quality, BMI, and sleep disorders. </a:t>
            </a:r>
            <a:r>
              <a:rPr lang="en-US" sz="1800" dirty="0">
                <a:latin typeface="Times New Roman" panose="02020603050405020304" pitchFamily="18" charset="0"/>
                <a:cs typeface="Times New Roman" panose="02020603050405020304" pitchFamily="18" charset="0"/>
                <a:hlinkClick r:id="rId2"/>
              </a:rPr>
              <a:t>[Link]</a:t>
            </a:r>
            <a:endParaRPr lang="en-US"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E9C8106-22B1-0B03-87DC-D0E4105AA1A6}"/>
              </a:ext>
            </a:extLst>
          </p:cNvPr>
          <p:cNvPicPr>
            <a:picLocks noChangeAspect="1"/>
          </p:cNvPicPr>
          <p:nvPr/>
        </p:nvPicPr>
        <p:blipFill>
          <a:blip r:embed="rId3"/>
          <a:stretch>
            <a:fillRect/>
          </a:stretch>
        </p:blipFill>
        <p:spPr>
          <a:xfrm>
            <a:off x="1819469" y="2205018"/>
            <a:ext cx="7875037" cy="4208383"/>
          </a:xfrm>
          <a:prstGeom prst="rect">
            <a:avLst/>
          </a:prstGeom>
        </p:spPr>
      </p:pic>
    </p:spTree>
    <p:extLst>
      <p:ext uri="{BB962C8B-B14F-4D97-AF65-F5344CB8AC3E}">
        <p14:creationId xmlns:p14="http://schemas.microsoft.com/office/powerpoint/2010/main" val="3388414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B1E4C0-B9D0-A3C1-6EF0-A94F574CDF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8F347B-3523-394F-14AC-FD87F7147BE4}"/>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panose="020B0604020202020204"/>
                <a:cs typeface="Arial" panose="020B0604020202020204"/>
              </a:rPr>
              <a:t>Result:</a:t>
            </a:r>
            <a:endParaRPr lang="en-US" sz="4000" dirty="0"/>
          </a:p>
        </p:txBody>
      </p:sp>
      <p:sp>
        <p:nvSpPr>
          <p:cNvPr id="3" name="Content Placeholder 2">
            <a:extLst>
              <a:ext uri="{FF2B5EF4-FFF2-40B4-BE49-F238E27FC236}">
                <a16:creationId xmlns:a16="http://schemas.microsoft.com/office/drawing/2014/main" id="{D9F126AA-A210-BD80-D6C0-4234021421BB}"/>
              </a:ext>
            </a:extLst>
          </p:cNvPr>
          <p:cNvSpPr>
            <a:spLocks noGrp="1"/>
          </p:cNvSpPr>
          <p:nvPr>
            <p:ph idx="1"/>
          </p:nvPr>
        </p:nvSpPr>
        <p:spPr>
          <a:xfrm>
            <a:off x="0" y="1266031"/>
            <a:ext cx="10515600" cy="4251960"/>
          </a:xfrm>
        </p:spPr>
        <p:txBody>
          <a:bodyPr vert="horz" lIns="91440" tIns="45720" rIns="91440" bIns="45720" rtlCol="0">
            <a:normAutofit/>
          </a:bodyPr>
          <a:lstStyle/>
          <a:p>
            <a:pPr marL="0" indent="0">
              <a:buNone/>
            </a:pPr>
            <a:r>
              <a:rPr lang="en-US" sz="1800" b="1" dirty="0">
                <a:latin typeface="Times New Roman" panose="02020603050405020304" pitchFamily="18" charset="0"/>
                <a:cs typeface="Times New Roman" panose="02020603050405020304" pitchFamily="18" charset="0"/>
              </a:rPr>
              <a:t>Sleep Disorder Analysis:</a:t>
            </a:r>
          </a:p>
          <a:p>
            <a:pPr marL="0" indent="0">
              <a:buNone/>
            </a:pPr>
            <a:r>
              <a:rPr lang="en-US" sz="1800" dirty="0">
                <a:latin typeface="Times New Roman" panose="02020603050405020304" pitchFamily="18" charset="0"/>
                <a:cs typeface="Times New Roman" panose="02020603050405020304" pitchFamily="18" charset="0"/>
              </a:rPr>
              <a:t>Analysis of sleep disorders based on stress levels, sleep quality, gender, occupation, and BMI. </a:t>
            </a:r>
            <a:r>
              <a:rPr lang="en-US" sz="1800" dirty="0">
                <a:latin typeface="Times New Roman" panose="02020603050405020304" pitchFamily="18" charset="0"/>
                <a:cs typeface="Times New Roman" panose="02020603050405020304" pitchFamily="18" charset="0"/>
                <a:hlinkClick r:id="rId2"/>
              </a:rPr>
              <a:t>[Link]</a:t>
            </a:r>
            <a:endParaRPr lang="en-US" sz="18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3CA11AC9-5255-4CEC-4BAE-F8B8CB528414}"/>
              </a:ext>
            </a:extLst>
          </p:cNvPr>
          <p:cNvPicPr>
            <a:picLocks noChangeAspect="1"/>
          </p:cNvPicPr>
          <p:nvPr/>
        </p:nvPicPr>
        <p:blipFill>
          <a:blip r:embed="rId3"/>
          <a:stretch>
            <a:fillRect/>
          </a:stretch>
        </p:blipFill>
        <p:spPr>
          <a:xfrm>
            <a:off x="1676400" y="2085394"/>
            <a:ext cx="7987004" cy="4308318"/>
          </a:xfrm>
          <a:prstGeom prst="rect">
            <a:avLst/>
          </a:prstGeom>
        </p:spPr>
      </p:pic>
    </p:spTree>
    <p:extLst>
      <p:ext uri="{BB962C8B-B14F-4D97-AF65-F5344CB8AC3E}">
        <p14:creationId xmlns:p14="http://schemas.microsoft.com/office/powerpoint/2010/main" val="2705987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25266" y="1303020"/>
            <a:ext cx="10515600" cy="4251960"/>
          </a:xfrm>
        </p:spPr>
        <p:txBody>
          <a:bodyPr vert="horz" lIns="91440" tIns="45720" rIns="91440" bIns="45720" rtlCol="0">
            <a:noAutofit/>
          </a:bodyPr>
          <a:lstStyle/>
          <a:p>
            <a:pPr marL="0" indent="0">
              <a:buNone/>
            </a:pPr>
            <a:r>
              <a:rPr lang="en-US" sz="1800" dirty="0">
                <a:latin typeface="Times New Roman" panose="02020603050405020304" pitchFamily="18" charset="0"/>
                <a:cs typeface="Times New Roman" panose="02020603050405020304" pitchFamily="18" charset="0"/>
              </a:rPr>
              <a:t>This project successfully analyzes the relationship between lifestyle factors and sleep health using an interactive Power BI dashboard. The analysis highlights how factors such as stress level, physical activity, BMI, occupation, and gender influence sleep duration, sleep quality, and sleep disorders.</a:t>
            </a:r>
          </a:p>
          <a:p>
            <a:pPr marL="0" indent="0">
              <a:buNone/>
            </a:pPr>
            <a:r>
              <a:rPr lang="en-US" sz="1800" dirty="0">
                <a:latin typeface="Times New Roman" panose="02020603050405020304" pitchFamily="18" charset="0"/>
                <a:cs typeface="Times New Roman" panose="02020603050405020304" pitchFamily="18" charset="0"/>
              </a:rPr>
              <a:t>The dashboard effectively provides clear visual insights that help identify patterns and trends related to sleep health. Interactive features like filters and slicers allow users to explore the data dynamically.</a:t>
            </a:r>
          </a:p>
          <a:p>
            <a:pPr marL="0" indent="0">
              <a:buNone/>
            </a:pPr>
            <a:r>
              <a:rPr lang="en-US" sz="1800" b="1" dirty="0">
                <a:latin typeface="Times New Roman" panose="02020603050405020304" pitchFamily="18" charset="0"/>
                <a:cs typeface="Times New Roman" panose="02020603050405020304" pitchFamily="18" charset="0"/>
              </a:rPr>
              <a:t>Challenges</a:t>
            </a:r>
          </a:p>
          <a:p>
            <a:r>
              <a:rPr lang="en-US" sz="1800" dirty="0">
                <a:latin typeface="Times New Roman" panose="02020603050405020304" pitchFamily="18" charset="0"/>
                <a:cs typeface="Times New Roman" panose="02020603050405020304" pitchFamily="18" charset="0"/>
              </a:rPr>
              <a:t>Managing and organizing multiple variables in the dataset</a:t>
            </a:r>
          </a:p>
          <a:p>
            <a:r>
              <a:rPr lang="en-US" sz="1800" dirty="0">
                <a:latin typeface="Times New Roman" panose="02020603050405020304" pitchFamily="18" charset="0"/>
                <a:cs typeface="Times New Roman" panose="02020603050405020304" pitchFamily="18" charset="0"/>
              </a:rPr>
              <a:t>Designing clear and readable visualizations</a:t>
            </a:r>
          </a:p>
          <a:p>
            <a:r>
              <a:rPr lang="en-US" sz="1800" dirty="0">
                <a:latin typeface="Times New Roman" panose="02020603050405020304" pitchFamily="18" charset="0"/>
                <a:cs typeface="Times New Roman" panose="02020603050405020304" pitchFamily="18" charset="0"/>
              </a:rPr>
              <a:t>Selecting appropriate charts to represent relationships</a:t>
            </a:r>
          </a:p>
          <a:p>
            <a:pPr marL="0" indent="0">
              <a:buNone/>
            </a:pPr>
            <a:r>
              <a:rPr lang="en-US" sz="1800" b="1" dirty="0">
                <a:latin typeface="Times New Roman" panose="02020603050405020304" pitchFamily="18" charset="0"/>
                <a:cs typeface="Times New Roman" panose="02020603050405020304" pitchFamily="18" charset="0"/>
              </a:rPr>
              <a:t>Potential Improvements</a:t>
            </a:r>
          </a:p>
          <a:p>
            <a:r>
              <a:rPr lang="en-US" sz="1800" dirty="0">
                <a:latin typeface="Times New Roman" panose="02020603050405020304" pitchFamily="18" charset="0"/>
                <a:cs typeface="Times New Roman" panose="02020603050405020304" pitchFamily="18" charset="0"/>
              </a:rPr>
              <a:t>Use larger or real-time health datasets</a:t>
            </a:r>
          </a:p>
          <a:p>
            <a:r>
              <a:rPr lang="en-US" sz="1800" dirty="0">
                <a:latin typeface="Times New Roman" panose="02020603050405020304" pitchFamily="18" charset="0"/>
                <a:cs typeface="Times New Roman" panose="02020603050405020304" pitchFamily="18" charset="0"/>
              </a:rPr>
              <a:t>Integrate predictive analytics for sleep disorder prediction</a:t>
            </a:r>
          </a:p>
          <a:p>
            <a:r>
              <a:rPr lang="en-US" sz="1800" dirty="0">
                <a:latin typeface="Times New Roman" panose="02020603050405020304" pitchFamily="18" charset="0"/>
                <a:cs typeface="Times New Roman" panose="02020603050405020304" pitchFamily="18" charset="0"/>
              </a:rPr>
              <a:t>Deploy the dashboard online for wider accessibility</a:t>
            </a:r>
          </a:p>
          <a:p>
            <a:pPr marL="0" indent="0">
              <a:buNone/>
            </a:pPr>
            <a:r>
              <a:rPr lang="en-US" sz="1800" dirty="0">
                <a:latin typeface="Times New Roman" panose="02020603050405020304" pitchFamily="18" charset="0"/>
                <a:cs typeface="Times New Roman" panose="02020603050405020304" pitchFamily="18" charset="0"/>
              </a:rPr>
              <a:t>This solution demonstrates how data visualization and analytics can support better understanding of sleep health patterns.</a:t>
            </a:r>
          </a:p>
          <a:p>
            <a:pPr marL="0" indent="0">
              <a:buNone/>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314724" y="1658997"/>
            <a:ext cx="10515600" cy="4251960"/>
          </a:xfrm>
        </p:spPr>
        <p:txBody>
          <a:bodyPr vert="horz" lIns="91440" tIns="45720" rIns="91440" bIns="45720" rtlCol="0">
            <a:normAutofit/>
          </a:bodyPr>
          <a:lstStyle/>
          <a:p>
            <a:pPr marL="0" indent="0">
              <a:buNone/>
            </a:pPr>
            <a:r>
              <a:rPr lang="en-US" sz="1800" dirty="0">
                <a:latin typeface="Times New Roman" panose="02020603050405020304" pitchFamily="18" charset="0"/>
                <a:cs typeface="Times New Roman" panose="02020603050405020304" pitchFamily="18" charset="0"/>
              </a:rPr>
              <a:t>The current project provides valuable insights into sleep health using data visualization. In the future, the system can be enhanced with advanced technologies and additional data sources to provide deeper analysis and more accurate insights.</a:t>
            </a:r>
          </a:p>
          <a:p>
            <a:r>
              <a:rPr lang="en-US" sz="1800" dirty="0">
                <a:latin typeface="Times New Roman" panose="02020603050405020304" pitchFamily="18" charset="0"/>
                <a:cs typeface="Times New Roman" panose="02020603050405020304" pitchFamily="18" charset="0"/>
              </a:rPr>
              <a:t>Integrate larger and more diverse health datasets to improve analysis accuracy.</a:t>
            </a:r>
          </a:p>
          <a:p>
            <a:r>
              <a:rPr lang="en-US" sz="1800" dirty="0">
                <a:latin typeface="Times New Roman" panose="02020603050405020304" pitchFamily="18" charset="0"/>
                <a:cs typeface="Times New Roman" panose="02020603050405020304" pitchFamily="18" charset="0"/>
              </a:rPr>
              <a:t>Implement machine learning models to predict sleep disorders and sleep quality.</a:t>
            </a:r>
          </a:p>
          <a:p>
            <a:r>
              <a:rPr lang="en-US" sz="1800" dirty="0">
                <a:latin typeface="Times New Roman" panose="02020603050405020304" pitchFamily="18" charset="0"/>
                <a:cs typeface="Times New Roman" panose="02020603050405020304" pitchFamily="18" charset="0"/>
              </a:rPr>
              <a:t>Incorporate real-time health data from wearable devices such as smartwatches and fitness trackers.</a:t>
            </a:r>
          </a:p>
          <a:p>
            <a:r>
              <a:rPr lang="en-US" sz="1800" dirty="0">
                <a:latin typeface="Times New Roman" panose="02020603050405020304" pitchFamily="18" charset="0"/>
                <a:cs typeface="Times New Roman" panose="02020603050405020304" pitchFamily="18" charset="0"/>
              </a:rPr>
              <a:t>Develop a web-based or cloud-based dashboard for easier access and sharing.</a:t>
            </a:r>
          </a:p>
          <a:p>
            <a:r>
              <a:rPr lang="en-US" sz="1800" dirty="0">
                <a:latin typeface="Times New Roman" panose="02020603050405020304" pitchFamily="18" charset="0"/>
                <a:cs typeface="Times New Roman" panose="02020603050405020304" pitchFamily="18" charset="0"/>
              </a:rPr>
              <a:t>Add additional health factors like diet, screen time, and mental health indicators.</a:t>
            </a:r>
          </a:p>
          <a:p>
            <a:r>
              <a:rPr lang="en-US" sz="1800" dirty="0">
                <a:latin typeface="Times New Roman" panose="02020603050405020304" pitchFamily="18" charset="0"/>
                <a:cs typeface="Times New Roman" panose="02020603050405020304" pitchFamily="18" charset="0"/>
              </a:rPr>
              <a:t>Enable personalized sleep recommendations based on user lifestyle patterns.</a:t>
            </a:r>
          </a:p>
          <a:p>
            <a:r>
              <a:rPr lang="en-US" sz="1800" dirty="0">
                <a:latin typeface="Times New Roman" panose="02020603050405020304" pitchFamily="18" charset="0"/>
                <a:cs typeface="Times New Roman" panose="02020603050405020304" pitchFamily="18" charset="0"/>
              </a:rPr>
              <a:t>Improve dashboard interactivity with advanced filters and drill-down analysis.</a:t>
            </a:r>
          </a:p>
          <a:p>
            <a:r>
              <a:rPr lang="en-US" sz="1800" dirty="0">
                <a:latin typeface="Times New Roman" panose="02020603050405020304" pitchFamily="18" charset="0"/>
                <a:cs typeface="Times New Roman" panose="02020603050405020304" pitchFamily="18" charset="0"/>
              </a:rPr>
              <a:t>Integrate the system with healthcare applications to support medical research and wellness monitoring.</a:t>
            </a:r>
          </a:p>
          <a:p>
            <a:pPr marL="0" indent="0">
              <a:spcBef>
                <a:spcPct val="20000"/>
              </a:spcBef>
              <a:spcAft>
                <a:spcPts val="600"/>
              </a:spcAft>
              <a:buNone/>
            </a:pPr>
            <a:endParaRPr lang="en-GB"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4" name="Rectangle 1">
            <a:extLst>
              <a:ext uri="{FF2B5EF4-FFF2-40B4-BE49-F238E27FC236}">
                <a16:creationId xmlns:a16="http://schemas.microsoft.com/office/drawing/2014/main" id="{ED49E9A5-6AE4-7AFD-6B29-FE756CFB88C9}"/>
              </a:ext>
            </a:extLst>
          </p:cNvPr>
          <p:cNvSpPr>
            <a:spLocks noGrp="1" noChangeArrowheads="1"/>
          </p:cNvSpPr>
          <p:nvPr>
            <p:ph idx="1"/>
          </p:nvPr>
        </p:nvSpPr>
        <p:spPr bwMode="auto">
          <a:xfrm>
            <a:off x="363892" y="1407614"/>
            <a:ext cx="9442579" cy="5203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Sleep Health and Lifestyle Dataset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Kaggle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https://www.kaggle.com/datasets/uom190346a/sleep-health-and-lifestyle-dataset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Microsoft Power BI Documentation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Microsoft Learn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https://learn.microsoft.com/power-bi</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BI Data Visualization Best Practices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Microsoft Documentation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National Sleep Foundation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Research and information on sleep health</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https://www.sleepfoundation.org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World Health Organization (WHO)</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Information on sleep and health research</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4"/>
              </a:rPr>
              <a:t>https://www.who.int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Project Resources</a:t>
            </a:r>
          </a:p>
          <a:p>
            <a:r>
              <a:rPr lang="en-US" sz="1800" b="1" dirty="0">
                <a:latin typeface="Times New Roman" panose="02020603050405020304" pitchFamily="18" charset="0"/>
                <a:cs typeface="Times New Roman" panose="02020603050405020304" pitchFamily="18" charset="0"/>
              </a:rPr>
              <a:t>GitHub Repository:</a:t>
            </a:r>
            <a:r>
              <a:rPr 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hlinkClick r:id="rId5"/>
              </a:rPr>
              <a:t>[Project Repository Link]</a:t>
            </a:r>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Google Drive:</a:t>
            </a:r>
            <a:r>
              <a:rPr lang="en-IN" sz="1800" dirty="0">
                <a:latin typeface="Times New Roman" panose="02020603050405020304" pitchFamily="18" charset="0"/>
                <a:cs typeface="Times New Roman" panose="02020603050405020304" pitchFamily="18" charset="0"/>
                <a:hlinkClick r:id="rId6"/>
              </a:rPr>
              <a:t> [Project Files Link]</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531</TotalTime>
  <Words>1484</Words>
  <Application>Microsoft Office PowerPoint</Application>
  <PresentationFormat>Widescreen</PresentationFormat>
  <Paragraphs>206</Paragraphs>
  <Slides>20</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20</vt:i4>
      </vt:variant>
    </vt:vector>
  </HeadingPairs>
  <TitlesOfParts>
    <vt:vector size="26" baseType="lpstr">
      <vt:lpstr>Aptos</vt:lpstr>
      <vt:lpstr>Arial</vt:lpstr>
      <vt:lpstr>Calibri</vt:lpstr>
      <vt:lpstr>Times New Roman</vt:lpstr>
      <vt:lpstr>1_Office Theme</vt:lpstr>
      <vt:lpstr>Custom Design</vt:lpstr>
      <vt:lpstr>PowerPoint Presentation</vt:lpstr>
      <vt:lpstr>OUTLINE:</vt:lpstr>
      <vt:lpstr>Problem Statement:</vt:lpstr>
      <vt:lpstr>Proposed Solution:</vt:lpstr>
      <vt:lpstr>Proposed Solution:</vt:lpstr>
      <vt:lpstr>Proposed Solution:</vt:lpstr>
      <vt:lpstr>Proposed Solution:</vt:lpstr>
      <vt:lpstr>System  Approach:</vt:lpstr>
      <vt:lpstr>System  Approach:</vt:lpstr>
      <vt:lpstr>System  Approach:</vt:lpstr>
      <vt:lpstr>System  Approach:</vt:lpstr>
      <vt:lpstr>Result:</vt:lpstr>
      <vt:lpstr>Result:</vt:lpstr>
      <vt:lpstr>Result:</vt:lpstr>
      <vt:lpstr>Result:</vt:lpstr>
      <vt:lpstr>Result:</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Sudiksha D</cp:lastModifiedBy>
  <cp:revision>104</cp:revision>
  <dcterms:created xsi:type="dcterms:W3CDTF">2024-05-21T11:55:00Z</dcterms:created>
  <dcterms:modified xsi:type="dcterms:W3CDTF">2026-03-14T16:58:19Z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